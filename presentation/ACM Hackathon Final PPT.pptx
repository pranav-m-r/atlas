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7"/>
            <a:ext cx="31216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1216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27846"/>
            <a:ext cx="5146040" cy="828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3356" y="3135783"/>
            <a:ext cx="56515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-12700" y="3135783"/>
            <a:ext cx="193103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712" y="3135783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9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slide" Target="slide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2.png"/><Relationship Id="rId7" Type="http://schemas.openxmlformats.org/officeDocument/2006/relationships/hyperlink" Target="https://doi.org/10.1016/S0161-4754(99)70020-5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3233/THC-174717" TargetMode="External"/><Relationship Id="rId11" Type="http://schemas.openxmlformats.org/officeDocument/2006/relationships/slide" Target="slide1.xml"/><Relationship Id="rId5" Type="http://schemas.openxmlformats.org/officeDocument/2006/relationships/hyperlink" Target="https://doi.org/10.3390/healthcare9121685" TargetMode="External"/><Relationship Id="rId10" Type="http://schemas.openxmlformats.org/officeDocument/2006/relationships/image" Target="../media/image55.png"/><Relationship Id="rId4" Type="http://schemas.openxmlformats.org/officeDocument/2006/relationships/hyperlink" Target="http://news.bbc.co.uk/2/hi/6187080.stm" TargetMode="External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2.png"/><Relationship Id="rId7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24171/j.phrp.2018.9.6.04" TargetMode="External"/><Relationship Id="rId5" Type="http://schemas.openxmlformats.org/officeDocument/2006/relationships/hyperlink" Target="https://doi.org/10.70252/GDNN4363" TargetMode="External"/><Relationship Id="rId4" Type="http://schemas.openxmlformats.org/officeDocument/2006/relationships/hyperlink" Target="https://doi.org/10.23749/mdl.v114i1.13600" TargetMode="External"/><Relationship Id="rId9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https://www.physio-pedia.com/Craniovertebral_angle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819" y="261816"/>
            <a:ext cx="5635625" cy="737870"/>
            <a:chOff x="87743" y="633983"/>
            <a:chExt cx="563562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633983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697241"/>
              <a:ext cx="5584825" cy="674370"/>
            </a:xfrm>
            <a:custGeom>
              <a:avLst/>
              <a:gdLst/>
              <a:ahLst/>
              <a:cxnLst/>
              <a:rect l="l" t="t" r="r" b="b"/>
              <a:pathLst>
                <a:path w="5584825" h="674369">
                  <a:moveTo>
                    <a:pt x="5584580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5584580" y="674283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678404"/>
              <a:ext cx="5584825" cy="642620"/>
            </a:xfrm>
            <a:custGeom>
              <a:avLst/>
              <a:gdLst/>
              <a:ahLst/>
              <a:cxnLst/>
              <a:rect l="l" t="t" r="r" b="b"/>
              <a:pathLst>
                <a:path w="5584825" h="642619">
                  <a:moveTo>
                    <a:pt x="5584580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5533779" y="642319"/>
                  </a:lnTo>
                  <a:lnTo>
                    <a:pt x="5553504" y="638310"/>
                  </a:lnTo>
                  <a:lnTo>
                    <a:pt x="5569657" y="627396"/>
                  </a:lnTo>
                  <a:lnTo>
                    <a:pt x="5580571" y="611243"/>
                  </a:lnTo>
                  <a:lnTo>
                    <a:pt x="5584580" y="59151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1156" y="388787"/>
            <a:ext cx="5612213" cy="4802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Sitting</a:t>
            </a:r>
            <a:r>
              <a:rPr sz="1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Posture</a:t>
            </a:r>
            <a:r>
              <a:rPr sz="1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Corrector</a:t>
            </a:r>
            <a:r>
              <a:rPr sz="14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Raspberry</a:t>
            </a:r>
            <a:r>
              <a:rPr sz="1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Calibri"/>
                <a:cs typeface="Calibri"/>
              </a:rPr>
              <a:t>Pi</a:t>
            </a:r>
            <a:r>
              <a:rPr sz="14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sz="14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1400" dirty="0">
              <a:latin typeface="Calibri"/>
              <a:cs typeface="Calibri"/>
            </a:endParaRPr>
          </a:p>
          <a:p>
            <a:pPr marR="93345" algn="ctr">
              <a:lnSpc>
                <a:spcPct val="100000"/>
              </a:lnSpc>
              <a:spcBef>
                <a:spcPts val="325"/>
              </a:spcBef>
            </a:pPr>
            <a:r>
              <a:rPr lang="en-US" sz="1100" dirty="0">
                <a:solidFill>
                  <a:schemeClr val="bg1"/>
                </a:solidFill>
              </a:rPr>
              <a:t>ACM India Winter School on Edge AI – Hackathon Project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899" y="1165225"/>
            <a:ext cx="3108059" cy="1819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Pranav</a:t>
            </a:r>
            <a:r>
              <a:rPr lang="en-IN" sz="1100" spc="-40" dirty="0">
                <a:latin typeface="Arial"/>
                <a:cs typeface="Arial"/>
              </a:rPr>
              <a:t> MR – BITS Goa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lang="en-IN" sz="1100" u="sng" spc="-40" dirty="0">
                <a:latin typeface="Arial"/>
                <a:cs typeface="Arial"/>
              </a:rPr>
              <a:t>pranavmr0402@gmail.com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latin typeface="Arial"/>
                <a:cs typeface="Arial"/>
              </a:rPr>
              <a:t>Shreyas</a:t>
            </a:r>
            <a:r>
              <a:rPr lang="en-IN" sz="1100" spc="-80" dirty="0">
                <a:latin typeface="Arial"/>
                <a:cs typeface="Arial"/>
              </a:rPr>
              <a:t> </a:t>
            </a:r>
            <a:r>
              <a:rPr lang="en-IN" sz="1100" spc="5" dirty="0">
                <a:latin typeface="Arial"/>
                <a:cs typeface="Arial"/>
              </a:rPr>
              <a:t>Sankaran – BITS Goa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lang="en-IN" sz="1100" u="sng" spc="5" dirty="0">
                <a:latin typeface="Arial"/>
                <a:cs typeface="Arial"/>
              </a:rPr>
              <a:t>iamshreyas08@gmail.com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Arial"/>
                <a:cs typeface="Arial"/>
              </a:rPr>
              <a:t>Ashwin</a:t>
            </a:r>
            <a:r>
              <a:rPr lang="en-IN" sz="1100" spc="-35" dirty="0">
                <a:latin typeface="Arial"/>
                <a:cs typeface="Arial"/>
              </a:rPr>
              <a:t> Prashant Hariharan – IIT Madras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lang="en-IN" sz="1100" u="sng" spc="-35" dirty="0">
                <a:latin typeface="Arial"/>
                <a:cs typeface="Arial"/>
              </a:rPr>
              <a:t>24f3100099@es.study.iitm.ac.in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Arial"/>
                <a:cs typeface="Arial"/>
              </a:rPr>
              <a:t>Ronalda</a:t>
            </a:r>
            <a:r>
              <a:rPr lang="en-IN" sz="1100" spc="-45" dirty="0">
                <a:latin typeface="Arial"/>
                <a:cs typeface="Arial"/>
              </a:rPr>
              <a:t> M – NIT Srinagar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lang="en-IN" sz="1100" u="sng" spc="-45" dirty="0">
                <a:latin typeface="Arial"/>
                <a:cs typeface="Arial"/>
              </a:rPr>
              <a:t>ronalda_2022phacse005@nitsri.ac.in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sz="1100" spc="-10" dirty="0" err="1">
                <a:latin typeface="Arial"/>
                <a:cs typeface="Arial"/>
              </a:rPr>
              <a:t>Veningston</a:t>
            </a:r>
            <a:r>
              <a:rPr lang="en-IN" sz="1100" spc="-10" dirty="0">
                <a:latin typeface="Arial"/>
                <a:cs typeface="Arial"/>
              </a:rPr>
              <a:t> K – NIT Srinagar</a:t>
            </a:r>
          </a:p>
          <a:p>
            <a:pPr marL="635" algn="l">
              <a:lnSpc>
                <a:spcPct val="100000"/>
              </a:lnSpc>
              <a:spcBef>
                <a:spcPts val="90"/>
              </a:spcBef>
            </a:pPr>
            <a:r>
              <a:rPr lang="en-IN" sz="1100" u="sng" dirty="0">
                <a:latin typeface="Arial"/>
                <a:cs typeface="Arial"/>
              </a:rPr>
              <a:t>veningstonk@nitsri.ac.in</a:t>
            </a:r>
            <a:endParaRPr sz="1100" u="sng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882B6E-5B8C-0BB2-2DC6-44A0237EB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48" y="993278"/>
            <a:ext cx="1648230" cy="1165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CD5071-5D07-43E6-F113-91D4F34A1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958" y="2077201"/>
            <a:ext cx="2273300" cy="7746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688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89683"/>
            <a:ext cx="4871085" cy="14579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Arial"/>
                <a:cs typeface="Arial"/>
              </a:rPr>
              <a:t>Works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b="1" spc="-60" dirty="0">
                <a:latin typeface="Arial"/>
                <a:cs typeface="Arial"/>
              </a:rPr>
              <a:t>on-</a:t>
            </a:r>
            <a:r>
              <a:rPr sz="1100" b="1" spc="-10" dirty="0">
                <a:latin typeface="Arial"/>
                <a:cs typeface="Arial"/>
              </a:rPr>
              <a:t>device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50" dirty="0">
                <a:latin typeface="Arial"/>
                <a:cs typeface="Arial"/>
              </a:rPr>
              <a:t>Single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camera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side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view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latin typeface="Arial"/>
                <a:cs typeface="Arial"/>
              </a:rPr>
              <a:t>MoveNet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(TFLite)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estimates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17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body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keypoints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real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time.</a:t>
            </a:r>
            <a:endParaRPr sz="1100">
              <a:latin typeface="Arial"/>
              <a:cs typeface="Arial"/>
            </a:endParaRPr>
          </a:p>
          <a:p>
            <a:pPr marL="12700" marR="651510">
              <a:lnSpc>
                <a:spcPct val="125299"/>
              </a:lnSpc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calibrated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scoring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module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maps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deviation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Score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i="1" spc="-175" dirty="0">
                <a:latin typeface="Meiryo UI"/>
                <a:cs typeface="Meiryo UI"/>
              </a:rPr>
              <a:t>∈</a:t>
            </a:r>
            <a:r>
              <a:rPr sz="1100" i="1" spc="-75" dirty="0">
                <a:latin typeface="Meiryo UI"/>
                <a:cs typeface="Meiryo UI"/>
              </a:rPr>
              <a:t> </a:t>
            </a:r>
            <a:r>
              <a:rPr sz="1100" spc="-25" dirty="0">
                <a:latin typeface="Arial"/>
                <a:cs typeface="Arial"/>
              </a:rPr>
              <a:t>[0</a:t>
            </a:r>
            <a:r>
              <a:rPr sz="1100" i="1" spc="-25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10" dirty="0">
                <a:latin typeface="Arial"/>
                <a:cs typeface="Arial"/>
              </a:rPr>
              <a:t>100]. </a:t>
            </a:r>
            <a:r>
              <a:rPr sz="1100" spc="-95" dirty="0">
                <a:latin typeface="Arial"/>
                <a:cs typeface="Arial"/>
              </a:rPr>
              <a:t>Raises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Arial"/>
                <a:cs typeface="Arial"/>
              </a:rPr>
              <a:t>warning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indicate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Good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300" dirty="0">
                <a:latin typeface="Arial"/>
                <a:cs typeface="Arial"/>
              </a:rPr>
              <a:t>/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Bad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posture.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spc="-45" dirty="0">
                <a:latin typeface="Arial"/>
                <a:cs typeface="Arial"/>
              </a:rPr>
              <a:t>Moreover,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suggest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reason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bad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help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identify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corrective </a:t>
            </a:r>
            <a:r>
              <a:rPr sz="1100" spc="-10" dirty="0">
                <a:latin typeface="Arial"/>
                <a:cs typeface="Arial"/>
              </a:rPr>
              <a:t>measures.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2692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3695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4698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5701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67051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824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75497"/>
            <a:ext cx="4672965" cy="4051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40" dirty="0">
                <a:latin typeface="Arial"/>
                <a:cs typeface="Arial"/>
              </a:rPr>
              <a:t>Posture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refers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natural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way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holds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their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body.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project,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analyzing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desk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specifically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through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 </a:t>
            </a:r>
            <a:r>
              <a:rPr sz="1100" spc="-30" dirty="0">
                <a:latin typeface="Arial"/>
                <a:cs typeface="Arial"/>
              </a:rPr>
              <a:t>parameters,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72260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10108" y="1323539"/>
            <a:ext cx="114300" cy="266065"/>
            <a:chOff x="510108" y="1323539"/>
            <a:chExt cx="114300" cy="2660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108" y="1323539"/>
              <a:ext cx="114214" cy="1142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108" y="1475368"/>
              <a:ext cx="114214" cy="11421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4352" y="1310619"/>
            <a:ext cx="660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0034" y="1277967"/>
            <a:ext cx="7086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Arial"/>
                <a:cs typeface="Arial"/>
              </a:rPr>
              <a:t>Neck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Slouch </a:t>
            </a:r>
            <a:r>
              <a:rPr sz="1000" spc="-45" dirty="0">
                <a:latin typeface="Arial"/>
                <a:cs typeface="Arial"/>
              </a:rPr>
              <a:t>Torso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Slouch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1571381"/>
            <a:ext cx="523113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through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side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view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camera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Raspberry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Pi.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5" dirty="0">
                <a:latin typeface="Arial"/>
                <a:cs typeface="Arial"/>
              </a:rPr>
              <a:t>Goal: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sitting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real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provide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actionable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feedback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using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0–100 </a:t>
            </a:r>
            <a:r>
              <a:rPr sz="1100" b="1" spc="-80" dirty="0">
                <a:latin typeface="Arial"/>
                <a:cs typeface="Arial"/>
              </a:rPr>
              <a:t>score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warning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aim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track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b="1" spc="-60" dirty="0">
                <a:latin typeface="Arial"/>
                <a:cs typeface="Arial"/>
              </a:rPr>
              <a:t>Focus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Time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Idle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Time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alert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user</a:t>
            </a:r>
            <a:r>
              <a:rPr sz="1100" spc="-10" dirty="0">
                <a:latin typeface="Arial"/>
                <a:cs typeface="Arial"/>
              </a:rPr>
              <a:t> about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same.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908644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90749"/>
            <a:ext cx="65265" cy="6526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spc="229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96" y="448006"/>
            <a:ext cx="4308199" cy="22350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2784238"/>
            <a:ext cx="52095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1: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End-</a:t>
            </a:r>
            <a:r>
              <a:rPr sz="1000" spc="-35" dirty="0">
                <a:latin typeface="Arial"/>
                <a:cs typeface="Arial"/>
              </a:rPr>
              <a:t>to-</a:t>
            </a:r>
            <a:r>
              <a:rPr sz="1000" spc="-10" dirty="0">
                <a:latin typeface="Arial"/>
                <a:cs typeface="Arial"/>
              </a:rPr>
              <a:t>end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pipeline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posture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monitoring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side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view:</a:t>
            </a:r>
            <a:r>
              <a:rPr sz="1000" spc="8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 </a:t>
            </a:r>
            <a:r>
              <a:rPr sz="1000" spc="-30" dirty="0">
                <a:latin typeface="Arial"/>
                <a:cs typeface="Arial"/>
              </a:rPr>
              <a:t>video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frames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70" dirty="0">
                <a:latin typeface="Meiryo UI"/>
                <a:cs typeface="Meiryo UI"/>
              </a:rPr>
              <a:t> </a:t>
            </a:r>
            <a:r>
              <a:rPr sz="1000" spc="-10" dirty="0">
                <a:latin typeface="Arial"/>
                <a:cs typeface="Arial"/>
              </a:rPr>
              <a:t>MoveNet </a:t>
            </a:r>
            <a:r>
              <a:rPr sz="1000" spc="-20" dirty="0">
                <a:latin typeface="Arial"/>
                <a:cs typeface="Arial"/>
              </a:rPr>
              <a:t>keypoint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extraction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55" dirty="0">
                <a:latin typeface="Meiryo UI"/>
                <a:cs typeface="Meiryo UI"/>
              </a:rPr>
              <a:t> </a:t>
            </a:r>
            <a:r>
              <a:rPr sz="1000" spc="-40" dirty="0">
                <a:latin typeface="Arial"/>
                <a:cs typeface="Arial"/>
              </a:rPr>
              <a:t>angle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computation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60" dirty="0">
                <a:latin typeface="Meiryo UI"/>
                <a:cs typeface="Meiryo UI"/>
              </a:rPr>
              <a:t> </a:t>
            </a:r>
            <a:r>
              <a:rPr sz="1000" spc="-30" dirty="0">
                <a:latin typeface="Arial"/>
                <a:cs typeface="Arial"/>
              </a:rPr>
              <a:t>posture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prediction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score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visualization.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Hardware</a:t>
            </a:r>
            <a:r>
              <a:rPr spc="80" dirty="0"/>
              <a:t> </a:t>
            </a:r>
            <a:r>
              <a:rPr spc="100" dirty="0"/>
              <a:t>&amp;</a:t>
            </a:r>
            <a:r>
              <a:rPr spc="85" dirty="0"/>
              <a:t> </a:t>
            </a:r>
            <a:r>
              <a:rPr spc="-1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391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3944"/>
            <a:ext cx="65265" cy="652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13811" y="1599209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932" y="1196680"/>
            <a:ext cx="426847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35" dirty="0">
                <a:latin typeface="Arial"/>
                <a:cs typeface="Arial"/>
              </a:rPr>
              <a:t>Edge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device: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Raspberry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</a:t>
            </a:r>
            <a:r>
              <a:rPr sz="1100" spc="-10" dirty="0">
                <a:latin typeface="Arial"/>
                <a:cs typeface="Arial"/>
              </a:rPr>
              <a:t> (camera)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25" dirty="0">
                <a:latin typeface="Arial"/>
                <a:cs typeface="Arial"/>
              </a:rPr>
              <a:t>Compute: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On-</a:t>
            </a:r>
            <a:r>
              <a:rPr sz="1100" spc="-45" dirty="0">
                <a:latin typeface="Arial"/>
                <a:cs typeface="Arial"/>
              </a:rPr>
              <a:t>device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inference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200" dirty="0">
                <a:latin typeface="Cambria"/>
                <a:cs typeface="Cambria"/>
              </a:rPr>
              <a:t>tflite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runtime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25" dirty="0">
                <a:latin typeface="Arial"/>
                <a:cs typeface="Arial"/>
              </a:rPr>
              <a:t>Privacy: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Video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stays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local;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score/warning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leaves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pipeline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3976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Pose</a:t>
            </a:r>
            <a:r>
              <a:rPr spc="165" dirty="0"/>
              <a:t> </a:t>
            </a:r>
            <a:r>
              <a:rPr dirty="0"/>
              <a:t>Estimation</a:t>
            </a:r>
            <a:r>
              <a:rPr spc="170" dirty="0"/>
              <a:t> </a:t>
            </a:r>
            <a:r>
              <a:rPr dirty="0"/>
              <a:t>with</a:t>
            </a:r>
            <a:r>
              <a:rPr spc="170" dirty="0"/>
              <a:t> </a:t>
            </a:r>
            <a:r>
              <a:rPr spc="-10" dirty="0"/>
              <a:t>MoveNet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397362"/>
            <a:ext cx="1483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"/>
                <a:cs typeface="Arial"/>
              </a:rPr>
              <a:t>MoveNet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outputs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keypoints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7463" y="549191"/>
            <a:ext cx="10814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KP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35" dirty="0">
                <a:latin typeface="Meiryo UI"/>
                <a:cs typeface="Meiryo UI"/>
              </a:rPr>
              <a:t>{</a:t>
            </a:r>
            <a:r>
              <a:rPr sz="1000" spc="-35" dirty="0">
                <a:latin typeface="Arial"/>
                <a:cs typeface="Arial"/>
              </a:rPr>
              <a:t>(</a:t>
            </a:r>
            <a:r>
              <a:rPr sz="1000" i="1" spc="-35" dirty="0">
                <a:latin typeface="Arial"/>
                <a:cs typeface="Arial"/>
              </a:rPr>
              <a:t>x</a:t>
            </a:r>
            <a:r>
              <a:rPr sz="1050" i="1" spc="-52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2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25" dirty="0">
                <a:latin typeface="Arial"/>
                <a:cs typeface="Arial"/>
              </a:rPr>
              <a:t>y</a:t>
            </a:r>
            <a:r>
              <a:rPr sz="1050" i="1" spc="-37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30" dirty="0">
                <a:latin typeface="Arial"/>
                <a:cs typeface="Arial"/>
              </a:rPr>
              <a:t>c</a:t>
            </a:r>
            <a:r>
              <a:rPr sz="1050" i="1" spc="-44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2" baseline="-11904" dirty="0">
                <a:latin typeface="Franklin Gothic Medium"/>
                <a:cs typeface="Franklin Gothic Medium"/>
              </a:rPr>
              <a:t> </a:t>
            </a:r>
            <a:r>
              <a:rPr sz="1000" i="1" spc="-25" dirty="0">
                <a:latin typeface="Meiryo UI"/>
                <a:cs typeface="Meiryo UI"/>
              </a:rPr>
              <a:t>}</a:t>
            </a:r>
            <a:r>
              <a:rPr sz="1050" spc="-37" baseline="31746" dirty="0">
                <a:latin typeface="Tahoma"/>
                <a:cs typeface="Tahoma"/>
              </a:rPr>
              <a:t>17</a:t>
            </a:r>
            <a:endParaRPr sz="1050" baseline="31746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3960" y="618428"/>
            <a:ext cx="177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Franklin Gothic Medium"/>
                <a:cs typeface="Franklin Gothic Medium"/>
              </a:rPr>
              <a:t>i</a:t>
            </a:r>
            <a:r>
              <a:rPr sz="700" i="1" spc="-110" dirty="0">
                <a:latin typeface="Franklin Gothic Medium"/>
                <a:cs typeface="Franklin Gothic Medium"/>
              </a:rPr>
              <a:t> 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4" y="738979"/>
            <a:ext cx="5353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Arial"/>
                <a:cs typeface="Arial"/>
              </a:rPr>
              <a:t>where,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50" i="1" spc="-37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25" dirty="0">
                <a:latin typeface="Arial"/>
                <a:cs typeface="Arial"/>
              </a:rPr>
              <a:t>y</a:t>
            </a:r>
            <a:r>
              <a:rPr sz="1050" i="1" spc="-37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1904" dirty="0">
                <a:latin typeface="Franklin Gothic Medium"/>
                <a:cs typeface="Franklin Gothic Medium"/>
              </a:rPr>
              <a:t>i</a:t>
            </a:r>
            <a:r>
              <a:rPr sz="1050" i="1" spc="217" baseline="-11904" dirty="0">
                <a:latin typeface="Franklin Gothic Medium"/>
                <a:cs typeface="Franklin Gothic Medium"/>
              </a:rPr>
              <a:t> </a:t>
            </a:r>
            <a:r>
              <a:rPr sz="1000" spc="-50" dirty="0">
                <a:latin typeface="Arial"/>
                <a:cs typeface="Arial"/>
              </a:rPr>
              <a:t>are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normalized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coordinates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confidence.</a:t>
            </a:r>
            <a:r>
              <a:rPr sz="1000" spc="9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Interest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points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head,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shoulder,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hip.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2196" y="966087"/>
            <a:ext cx="3015243" cy="18984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25548" y="2965747"/>
            <a:ext cx="1708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2: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MoveNet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130346"/>
            <a:ext cx="1920239" cy="109855"/>
          </a:xfrm>
          <a:custGeom>
            <a:avLst/>
            <a:gdLst/>
            <a:ahLst/>
            <a:cxnLst/>
            <a:rect l="l" t="t" r="r" b="b"/>
            <a:pathLst>
              <a:path w="1920239" h="109855">
                <a:moveTo>
                  <a:pt x="1919973" y="0"/>
                </a:moveTo>
                <a:lnTo>
                  <a:pt x="0" y="0"/>
                </a:lnTo>
                <a:lnTo>
                  <a:pt x="0" y="109651"/>
                </a:lnTo>
                <a:lnTo>
                  <a:pt x="1919973" y="109651"/>
                </a:lnTo>
                <a:lnTo>
                  <a:pt x="1919973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19973" y="3130346"/>
            <a:ext cx="3840479" cy="109855"/>
            <a:chOff x="1919973" y="3130346"/>
            <a:chExt cx="3840479" cy="109855"/>
          </a:xfrm>
        </p:grpSpPr>
        <p:sp>
          <p:nvSpPr>
            <p:cNvPr id="12" name="object 1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Calibration</a:t>
            </a:r>
            <a:r>
              <a:rPr spc="200" dirty="0"/>
              <a:t> </a:t>
            </a:r>
            <a:r>
              <a:rPr spc="100" dirty="0"/>
              <a:t>&amp;</a:t>
            </a:r>
            <a:r>
              <a:rPr spc="204" dirty="0"/>
              <a:t> </a:t>
            </a:r>
            <a:r>
              <a:rPr dirty="0"/>
              <a:t>Scoring</a:t>
            </a:r>
            <a:r>
              <a:rPr spc="204" dirty="0"/>
              <a:t> </a:t>
            </a:r>
            <a:r>
              <a:rPr dirty="0"/>
              <a:t>Configuration</a:t>
            </a:r>
            <a:r>
              <a:rPr spc="204" dirty="0"/>
              <a:t> </a:t>
            </a:r>
            <a:r>
              <a:rPr spc="-10" dirty="0"/>
              <a:t>[1/3]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55357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83805"/>
            <a:ext cx="183642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Runtime</a:t>
            </a:r>
            <a:r>
              <a:rPr sz="1200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Keypoint</a:t>
            </a:r>
            <a:r>
              <a:rPr sz="12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Settings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941070"/>
            <a:ext cx="5635626" cy="739889"/>
            <a:chOff x="87743" y="941070"/>
            <a:chExt cx="5635626" cy="7398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41070"/>
              <a:ext cx="5584580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77650" y="1630502"/>
              <a:ext cx="45719" cy="50457"/>
            </a:xfrm>
            <a:custGeom>
              <a:avLst/>
              <a:gdLst/>
              <a:ahLst/>
              <a:cxnLst/>
              <a:rect l="l" t="t" r="r" b="b"/>
              <a:pathLst>
                <a:path w="5584825" h="868680">
                  <a:moveTo>
                    <a:pt x="5584580" y="0"/>
                  </a:moveTo>
                  <a:lnTo>
                    <a:pt x="0" y="0"/>
                  </a:lnTo>
                  <a:lnTo>
                    <a:pt x="0" y="868590"/>
                  </a:lnTo>
                  <a:lnTo>
                    <a:pt x="5584580" y="868590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43" y="985343"/>
              <a:ext cx="5584825" cy="645160"/>
            </a:xfrm>
            <a:custGeom>
              <a:avLst/>
              <a:gdLst/>
              <a:ahLst/>
              <a:cxnLst/>
              <a:rect l="l" t="t" r="r" b="b"/>
              <a:pathLst>
                <a:path w="5584825" h="645160">
                  <a:moveTo>
                    <a:pt x="5584580" y="0"/>
                  </a:moveTo>
                  <a:lnTo>
                    <a:pt x="0" y="0"/>
                  </a:lnTo>
                  <a:lnTo>
                    <a:pt x="0" y="593927"/>
                  </a:lnTo>
                  <a:lnTo>
                    <a:pt x="4008" y="613652"/>
                  </a:lnTo>
                  <a:lnTo>
                    <a:pt x="14922" y="629805"/>
                  </a:lnTo>
                  <a:lnTo>
                    <a:pt x="31075" y="640719"/>
                  </a:lnTo>
                  <a:lnTo>
                    <a:pt x="50800" y="644727"/>
                  </a:lnTo>
                  <a:lnTo>
                    <a:pt x="5533779" y="644727"/>
                  </a:lnTo>
                  <a:lnTo>
                    <a:pt x="5553504" y="640719"/>
                  </a:lnTo>
                  <a:lnTo>
                    <a:pt x="5569657" y="629805"/>
                  </a:lnTo>
                  <a:lnTo>
                    <a:pt x="5580571" y="613652"/>
                  </a:lnTo>
                  <a:lnTo>
                    <a:pt x="5584580" y="593927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1030719"/>
              <a:ext cx="65265" cy="652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258468"/>
              <a:ext cx="65265" cy="652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089" y="1486217"/>
              <a:ext cx="65265" cy="6526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05723" y="1551482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75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87743" y="1782000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544" y="1810448"/>
            <a:ext cx="145288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Alert</a:t>
            </a:r>
            <a:r>
              <a:rPr sz="12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2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Timing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 flipV="1">
            <a:off x="87743" y="1727796"/>
            <a:ext cx="45719" cy="111123"/>
            <a:chOff x="87743" y="1838919"/>
            <a:chExt cx="5635625" cy="83756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3" y="1967712"/>
              <a:ext cx="5584580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8544" y="1838919"/>
              <a:ext cx="5584825" cy="837565"/>
            </a:xfrm>
            <a:custGeom>
              <a:avLst/>
              <a:gdLst/>
              <a:ahLst/>
              <a:cxnLst/>
              <a:rect l="l" t="t" r="r" b="b"/>
              <a:pathLst>
                <a:path w="5584825" h="837564">
                  <a:moveTo>
                    <a:pt x="5584580" y="0"/>
                  </a:moveTo>
                  <a:lnTo>
                    <a:pt x="0" y="0"/>
                  </a:lnTo>
                  <a:lnTo>
                    <a:pt x="0" y="836958"/>
                  </a:lnTo>
                  <a:lnTo>
                    <a:pt x="5584580" y="83695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743" y="2011981"/>
              <a:ext cx="5584825" cy="613410"/>
            </a:xfrm>
            <a:custGeom>
              <a:avLst/>
              <a:gdLst/>
              <a:ahLst/>
              <a:cxnLst/>
              <a:rect l="l" t="t" r="r" b="b"/>
              <a:pathLst>
                <a:path w="5584825" h="613410">
                  <a:moveTo>
                    <a:pt x="5584580" y="0"/>
                  </a:moveTo>
                  <a:lnTo>
                    <a:pt x="0" y="0"/>
                  </a:lnTo>
                  <a:lnTo>
                    <a:pt x="0" y="562295"/>
                  </a:lnTo>
                  <a:lnTo>
                    <a:pt x="4008" y="582020"/>
                  </a:lnTo>
                  <a:lnTo>
                    <a:pt x="14922" y="598173"/>
                  </a:lnTo>
                  <a:lnTo>
                    <a:pt x="31075" y="609087"/>
                  </a:lnTo>
                  <a:lnTo>
                    <a:pt x="50800" y="613095"/>
                  </a:lnTo>
                  <a:lnTo>
                    <a:pt x="5533779" y="613095"/>
                  </a:lnTo>
                  <a:lnTo>
                    <a:pt x="5553504" y="609087"/>
                  </a:lnTo>
                  <a:lnTo>
                    <a:pt x="5569657" y="598173"/>
                  </a:lnTo>
                  <a:lnTo>
                    <a:pt x="5580571" y="582020"/>
                  </a:lnTo>
                  <a:lnTo>
                    <a:pt x="5584580" y="562295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89" y="2057361"/>
              <a:ext cx="65265" cy="652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089" y="2285110"/>
              <a:ext cx="65265" cy="6526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089" y="2512859"/>
              <a:ext cx="65265" cy="6526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0444" y="883393"/>
            <a:ext cx="5661025" cy="17354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690"/>
              </a:spcBef>
            </a:pPr>
            <a:r>
              <a:rPr sz="1000" spc="-55" dirty="0">
                <a:latin typeface="Arial"/>
                <a:cs typeface="Arial"/>
              </a:rPr>
              <a:t>Frame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resolution:</a:t>
            </a:r>
            <a:r>
              <a:rPr sz="1000" spc="9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640</a:t>
            </a:r>
            <a:r>
              <a:rPr sz="1000" i="1" dirty="0">
                <a:latin typeface="Meiryo UI"/>
                <a:cs typeface="Meiryo UI"/>
              </a:rPr>
              <a:t>×</a:t>
            </a:r>
            <a:r>
              <a:rPr sz="1000" b="1" dirty="0">
                <a:latin typeface="Arial"/>
                <a:cs typeface="Arial"/>
              </a:rPr>
              <a:t>480</a:t>
            </a:r>
            <a:r>
              <a:rPr sz="1000" dirty="0">
                <a:latin typeface="Arial"/>
                <a:cs typeface="Arial"/>
              </a:rPr>
              <a:t>, </a:t>
            </a:r>
            <a:r>
              <a:rPr sz="1000" spc="-25" dirty="0">
                <a:latin typeface="Arial"/>
                <a:cs typeface="Arial"/>
              </a:rPr>
              <a:t>frame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rate:</a:t>
            </a:r>
            <a:r>
              <a:rPr sz="1000" spc="9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30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FPS</a:t>
            </a:r>
            <a:endParaRPr sz="1000" dirty="0">
              <a:latin typeface="Arial"/>
              <a:cs typeface="Arial"/>
            </a:endParaRPr>
          </a:p>
          <a:p>
            <a:pPr marL="314960" marR="1506220">
              <a:lnSpc>
                <a:spcPct val="149400"/>
              </a:lnSpc>
              <a:spcBef>
                <a:spcPts val="5"/>
              </a:spcBef>
            </a:pPr>
            <a:r>
              <a:rPr sz="1000" spc="-10" dirty="0">
                <a:latin typeface="Arial"/>
                <a:cs typeface="Arial"/>
              </a:rPr>
              <a:t>Minimum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keypoint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confidence:</a:t>
            </a:r>
            <a:r>
              <a:rPr sz="1000" spc="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baseline="-11904" dirty="0">
                <a:latin typeface="Tahoma"/>
                <a:cs typeface="Tahoma"/>
              </a:rPr>
              <a:t>min</a:t>
            </a:r>
            <a:r>
              <a:rPr sz="1050" spc="82" baseline="-11904" dirty="0">
                <a:latin typeface="Tahoma"/>
                <a:cs typeface="Tahoma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Georgia"/>
                <a:cs typeface="Georgia"/>
              </a:rPr>
              <a:t>.</a:t>
            </a:r>
            <a:r>
              <a:rPr sz="1000" dirty="0">
                <a:latin typeface="Arial"/>
                <a:cs typeface="Arial"/>
              </a:rPr>
              <a:t>3 </a:t>
            </a:r>
            <a:r>
              <a:rPr sz="1000" spc="-25" dirty="0">
                <a:latin typeface="Arial"/>
                <a:cs typeface="Arial"/>
              </a:rPr>
              <a:t>(ignore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low-</a:t>
            </a:r>
            <a:r>
              <a:rPr sz="1000" spc="-40" dirty="0">
                <a:latin typeface="Arial"/>
                <a:cs typeface="Arial"/>
              </a:rPr>
              <a:t>confidence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joints)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scaling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testing:</a:t>
            </a:r>
            <a:r>
              <a:rPr sz="1000" spc="114" dirty="0">
                <a:latin typeface="Arial"/>
                <a:cs typeface="Arial"/>
              </a:rPr>
              <a:t> </a:t>
            </a:r>
            <a:r>
              <a:rPr sz="1000" b="1" spc="65" dirty="0">
                <a:latin typeface="Arial"/>
                <a:cs typeface="Arial"/>
              </a:rPr>
              <a:t>TIME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RATE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254" dirty="0">
                <a:latin typeface="Arial"/>
                <a:cs typeface="Arial"/>
              </a:rPr>
              <a:t>=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30.0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(accelerated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evaluation)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 dirty="0">
              <a:latin typeface="Arial"/>
              <a:cs typeface="Arial"/>
            </a:endParaRPr>
          </a:p>
          <a:p>
            <a:pPr marL="314960" marR="2605405">
              <a:lnSpc>
                <a:spcPct val="149400"/>
              </a:lnSpc>
              <a:spcBef>
                <a:spcPts val="5"/>
              </a:spcBef>
            </a:pPr>
            <a:r>
              <a:rPr sz="1000" spc="-10" dirty="0">
                <a:latin typeface="Arial"/>
                <a:cs typeface="Arial"/>
              </a:rPr>
              <a:t>Bad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posture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alert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sustained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deviation:</a:t>
            </a:r>
            <a:r>
              <a:rPr sz="1000" spc="8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10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s </a:t>
            </a:r>
            <a:r>
              <a:rPr sz="1000" spc="-10" dirty="0">
                <a:latin typeface="Arial"/>
                <a:cs typeface="Arial"/>
              </a:rPr>
              <a:t>Idle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alert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continuous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sitting/standing:</a:t>
            </a:r>
            <a:r>
              <a:rPr sz="1000" spc="8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30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min </a:t>
            </a:r>
            <a:r>
              <a:rPr sz="1000" spc="-60" dirty="0">
                <a:latin typeface="Arial"/>
                <a:cs typeface="Arial"/>
              </a:rPr>
              <a:t>Focus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session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minimum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duration: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5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min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0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Calibration</a:t>
            </a:r>
            <a:r>
              <a:rPr spc="200" dirty="0"/>
              <a:t> </a:t>
            </a:r>
            <a:r>
              <a:rPr spc="100" dirty="0"/>
              <a:t>&amp;</a:t>
            </a:r>
            <a:r>
              <a:rPr spc="204" dirty="0"/>
              <a:t> </a:t>
            </a:r>
            <a:r>
              <a:rPr dirty="0"/>
              <a:t>Scoring</a:t>
            </a:r>
            <a:r>
              <a:rPr spc="204" dirty="0"/>
              <a:t> </a:t>
            </a:r>
            <a:r>
              <a:rPr dirty="0"/>
              <a:t>Configuration</a:t>
            </a:r>
            <a:r>
              <a:rPr spc="204" dirty="0"/>
              <a:t> </a:t>
            </a:r>
            <a:r>
              <a:rPr spc="-10" dirty="0"/>
              <a:t>[2/3]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35151"/>
            <a:ext cx="5584825" cy="215265"/>
          </a:xfrm>
          <a:custGeom>
            <a:avLst/>
            <a:gdLst/>
            <a:ahLst/>
            <a:cxnLst/>
            <a:rect l="l" t="t" r="r" b="b"/>
            <a:pathLst>
              <a:path w="5584825" h="21526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584580" y="215238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672045"/>
            <a:ext cx="232283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Angle</a:t>
            </a:r>
            <a:r>
              <a:rPr sz="12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Calibration</a:t>
            </a:r>
            <a:r>
              <a:rPr sz="12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(Reference</a:t>
            </a:r>
            <a:r>
              <a:rPr sz="12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Ranges)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837742"/>
            <a:ext cx="5584825" cy="1106627"/>
            <a:chOff x="87743" y="837742"/>
            <a:chExt cx="5584825" cy="110662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837742"/>
              <a:ext cx="558458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882014"/>
              <a:ext cx="5584825" cy="1062355"/>
            </a:xfrm>
            <a:custGeom>
              <a:avLst/>
              <a:gdLst/>
              <a:ahLst/>
              <a:cxnLst/>
              <a:rect l="l" t="t" r="r" b="b"/>
              <a:pathLst>
                <a:path w="5584825" h="1062355">
                  <a:moveTo>
                    <a:pt x="5584580" y="0"/>
                  </a:moveTo>
                  <a:lnTo>
                    <a:pt x="0" y="0"/>
                  </a:lnTo>
                  <a:lnTo>
                    <a:pt x="0" y="1011466"/>
                  </a:lnTo>
                  <a:lnTo>
                    <a:pt x="4008" y="1031191"/>
                  </a:lnTo>
                  <a:lnTo>
                    <a:pt x="14922" y="1047344"/>
                  </a:lnTo>
                  <a:lnTo>
                    <a:pt x="31075" y="1058258"/>
                  </a:lnTo>
                  <a:lnTo>
                    <a:pt x="50800" y="1062267"/>
                  </a:lnTo>
                  <a:lnTo>
                    <a:pt x="5533779" y="1062267"/>
                  </a:lnTo>
                  <a:lnTo>
                    <a:pt x="5553504" y="1058258"/>
                  </a:lnTo>
                  <a:lnTo>
                    <a:pt x="5569657" y="1047344"/>
                  </a:lnTo>
                  <a:lnTo>
                    <a:pt x="5580571" y="1031191"/>
                  </a:lnTo>
                  <a:lnTo>
                    <a:pt x="5584580" y="1011466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089" y="934427"/>
              <a:ext cx="65265" cy="652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79994" y="127805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09976" y="127805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4558" y="127805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" y="1529092"/>
              <a:ext cx="65265" cy="652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98002" y="187271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55226" y="187271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37037" y="187271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79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3144" y="862995"/>
            <a:ext cx="563562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Neck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angle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(ear–</a:t>
            </a:r>
            <a:r>
              <a:rPr sz="1000" spc="-40" dirty="0">
                <a:latin typeface="Arial"/>
                <a:cs typeface="Arial"/>
              </a:rPr>
              <a:t>shoulder–</a:t>
            </a:r>
            <a:r>
              <a:rPr sz="1000" spc="-10" dirty="0">
                <a:latin typeface="Arial"/>
                <a:cs typeface="Arial"/>
              </a:rPr>
              <a:t>hip):</a:t>
            </a:r>
            <a:endParaRPr sz="1000">
              <a:latin typeface="Arial"/>
              <a:cs typeface="Arial"/>
            </a:endParaRPr>
          </a:p>
          <a:p>
            <a:pPr marL="168910" algn="ctr">
              <a:lnSpc>
                <a:spcPct val="100000"/>
              </a:lnSpc>
              <a:spcBef>
                <a:spcPts val="990"/>
              </a:spcBef>
            </a:pPr>
            <a:r>
              <a:rPr sz="1000" spc="-20" dirty="0">
                <a:latin typeface="Arial"/>
                <a:cs typeface="Arial"/>
              </a:rPr>
              <a:t>NECK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130</a:t>
            </a:r>
            <a:r>
              <a:rPr sz="1050" i="1" baseline="31746" dirty="0">
                <a:latin typeface="Arial"/>
                <a:cs typeface="Arial"/>
              </a:rPr>
              <a:t>◦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225" dirty="0">
                <a:latin typeface="Georgia"/>
                <a:cs typeface="Georgia"/>
              </a:rPr>
              <a:t> </a:t>
            </a:r>
            <a:r>
              <a:rPr sz="1000" spc="-20" dirty="0">
                <a:latin typeface="Arial"/>
                <a:cs typeface="Arial"/>
              </a:rPr>
              <a:t>NECK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180</a:t>
            </a:r>
            <a:r>
              <a:rPr sz="1050" i="1" baseline="31746" dirty="0">
                <a:latin typeface="Arial"/>
                <a:cs typeface="Arial"/>
              </a:rPr>
              <a:t>◦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229" dirty="0">
                <a:latin typeface="Georgia"/>
                <a:cs typeface="Georgia"/>
              </a:rPr>
              <a:t> </a:t>
            </a:r>
            <a:r>
              <a:rPr sz="1000" spc="-20" dirty="0">
                <a:latin typeface="Arial"/>
                <a:cs typeface="Arial"/>
              </a:rPr>
              <a:t>NECK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20" dirty="0">
                <a:latin typeface="Arial"/>
                <a:cs typeface="Arial"/>
              </a:rPr>
              <a:t> 200</a:t>
            </a:r>
            <a:r>
              <a:rPr sz="1050" i="1" spc="-30" baseline="31746" dirty="0">
                <a:latin typeface="Arial"/>
                <a:cs typeface="Arial"/>
              </a:rPr>
              <a:t>◦</a:t>
            </a:r>
            <a:endParaRPr sz="1050" baseline="31746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b="1" spc="-40" dirty="0">
                <a:latin typeface="Arial"/>
                <a:cs typeface="Arial"/>
              </a:rPr>
              <a:t>Torso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angle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(shoulder–hip–</a:t>
            </a:r>
            <a:r>
              <a:rPr sz="1000" spc="-10" dirty="0">
                <a:latin typeface="Arial"/>
                <a:cs typeface="Arial"/>
              </a:rPr>
              <a:t>knee):</a:t>
            </a:r>
            <a:endParaRPr sz="1000">
              <a:latin typeface="Arial"/>
              <a:cs typeface="Arial"/>
            </a:endParaRPr>
          </a:p>
          <a:p>
            <a:pPr marL="168910" algn="ctr">
              <a:lnSpc>
                <a:spcPct val="100000"/>
              </a:lnSpc>
              <a:spcBef>
                <a:spcPts val="994"/>
              </a:spcBef>
            </a:pPr>
            <a:r>
              <a:rPr sz="1000" spc="-25" dirty="0">
                <a:latin typeface="Arial"/>
                <a:cs typeface="Arial"/>
              </a:rPr>
              <a:t>TORSO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45</a:t>
            </a:r>
            <a:r>
              <a:rPr sz="1050" i="1" baseline="31746" dirty="0">
                <a:latin typeface="Arial"/>
                <a:cs typeface="Arial"/>
              </a:rPr>
              <a:t>◦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240" dirty="0">
                <a:latin typeface="Georgia"/>
                <a:cs typeface="Georgia"/>
              </a:rPr>
              <a:t> </a:t>
            </a:r>
            <a:r>
              <a:rPr sz="1000" spc="-25" dirty="0">
                <a:latin typeface="Arial"/>
                <a:cs typeface="Arial"/>
              </a:rPr>
              <a:t>TORSO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90</a:t>
            </a:r>
            <a:r>
              <a:rPr sz="1050" i="1" baseline="31746" dirty="0">
                <a:latin typeface="Arial"/>
                <a:cs typeface="Arial"/>
              </a:rPr>
              <a:t>◦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240" dirty="0">
                <a:latin typeface="Georgia"/>
                <a:cs typeface="Georgia"/>
              </a:rPr>
              <a:t> </a:t>
            </a:r>
            <a:r>
              <a:rPr sz="1000" spc="-25" dirty="0">
                <a:latin typeface="Arial"/>
                <a:cs typeface="Arial"/>
              </a:rPr>
              <a:t>TORSO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135</a:t>
            </a:r>
            <a:r>
              <a:rPr sz="1050" i="1" spc="-30" baseline="31746" dirty="0">
                <a:latin typeface="Arial"/>
                <a:cs typeface="Arial"/>
              </a:rPr>
              <a:t>◦</a:t>
            </a:r>
            <a:endParaRPr sz="1050" baseline="31746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743" y="2096198"/>
            <a:ext cx="5584825" cy="198755"/>
          </a:xfrm>
          <a:custGeom>
            <a:avLst/>
            <a:gdLst/>
            <a:ahLst/>
            <a:cxnLst/>
            <a:rect l="l" t="t" r="r" b="b"/>
            <a:pathLst>
              <a:path w="5584825" h="19875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584580" y="198367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8544" y="2124645"/>
            <a:ext cx="274701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Degrees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12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head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movement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743" y="2281910"/>
            <a:ext cx="5584580" cy="161950"/>
            <a:chOff x="87743" y="2281910"/>
            <a:chExt cx="5584580" cy="16195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281910"/>
              <a:ext cx="5584580" cy="5060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089" y="2378595"/>
              <a:ext cx="65265" cy="6526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3144" y="2307176"/>
            <a:ext cx="5635625" cy="455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"/>
                <a:cs typeface="Arial"/>
              </a:rPr>
              <a:t>Movement-</a:t>
            </a:r>
            <a:r>
              <a:rPr sz="1000" spc="-30" dirty="0">
                <a:latin typeface="Arial"/>
                <a:cs typeface="Arial"/>
              </a:rPr>
              <a:t>change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thresholds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(to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detect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activity):</a:t>
            </a:r>
            <a:endParaRPr sz="1000">
              <a:latin typeface="Arial"/>
              <a:cs typeface="Arial"/>
            </a:endParaRPr>
          </a:p>
          <a:p>
            <a:pPr marL="168910" algn="ctr">
              <a:lnSpc>
                <a:spcPct val="100000"/>
              </a:lnSpc>
              <a:spcBef>
                <a:spcPts val="990"/>
              </a:spcBef>
              <a:tabLst>
                <a:tab pos="1060450" algn="l"/>
              </a:tabLst>
            </a:pPr>
            <a:r>
              <a:rPr sz="1000" dirty="0">
                <a:latin typeface="Arial"/>
                <a:cs typeface="Arial"/>
              </a:rPr>
              <a:t>∆</a:t>
            </a:r>
            <a:r>
              <a:rPr sz="1000" i="1" dirty="0">
                <a:latin typeface="Georgia"/>
                <a:cs typeface="Georgia"/>
              </a:rPr>
              <a:t>θ</a:t>
            </a:r>
            <a:r>
              <a:rPr sz="1050" baseline="-11904" dirty="0">
                <a:latin typeface="Tahoma"/>
                <a:cs typeface="Tahoma"/>
              </a:rPr>
              <a:t>head</a:t>
            </a:r>
            <a:r>
              <a:rPr sz="1050" spc="217" baseline="-11904" dirty="0">
                <a:latin typeface="Tahoma"/>
                <a:cs typeface="Tahoma"/>
              </a:rPr>
              <a:t> </a:t>
            </a:r>
            <a:r>
              <a:rPr sz="1000" i="1" spc="-40" dirty="0">
                <a:latin typeface="Meiryo UI"/>
                <a:cs typeface="Meiryo UI"/>
              </a:rPr>
              <a:t>≥</a:t>
            </a:r>
            <a:r>
              <a:rPr sz="1000" i="1" spc="-35" dirty="0">
                <a:latin typeface="Meiryo UI"/>
                <a:cs typeface="Meiryo UI"/>
              </a:rPr>
              <a:t> </a:t>
            </a:r>
            <a:r>
              <a:rPr sz="1000" spc="-20" dirty="0">
                <a:latin typeface="Arial"/>
                <a:cs typeface="Arial"/>
              </a:rPr>
              <a:t>10</a:t>
            </a:r>
            <a:r>
              <a:rPr sz="1050" i="1" spc="-30" baseline="31746" dirty="0">
                <a:latin typeface="Arial"/>
                <a:cs typeface="Arial"/>
              </a:rPr>
              <a:t>◦</a:t>
            </a:r>
            <a:r>
              <a:rPr sz="1000" i="1" spc="-20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dirty="0">
                <a:latin typeface="Arial"/>
                <a:cs typeface="Arial"/>
              </a:rPr>
              <a:t>∆</a:t>
            </a:r>
            <a:r>
              <a:rPr sz="1000" i="1" dirty="0">
                <a:latin typeface="Georgia"/>
                <a:cs typeface="Georgia"/>
              </a:rPr>
              <a:t>θ</a:t>
            </a:r>
            <a:r>
              <a:rPr sz="1050" baseline="-11904" dirty="0">
                <a:latin typeface="Tahoma"/>
                <a:cs typeface="Tahoma"/>
              </a:rPr>
              <a:t>leg</a:t>
            </a:r>
            <a:r>
              <a:rPr sz="1050" spc="225" baseline="-11904" dirty="0">
                <a:latin typeface="Tahoma"/>
                <a:cs typeface="Tahoma"/>
              </a:rPr>
              <a:t> </a:t>
            </a:r>
            <a:r>
              <a:rPr sz="1000" i="1" spc="-40" dirty="0">
                <a:latin typeface="Meiryo UI"/>
                <a:cs typeface="Meiryo UI"/>
              </a:rPr>
              <a:t>≥</a:t>
            </a:r>
            <a:r>
              <a:rPr sz="1000" i="1" spc="-25" dirty="0">
                <a:latin typeface="Meiryo UI"/>
                <a:cs typeface="Meiryo UI"/>
              </a:rPr>
              <a:t> </a:t>
            </a:r>
            <a:r>
              <a:rPr sz="1000" spc="-25" dirty="0">
                <a:latin typeface="Arial"/>
                <a:cs typeface="Arial"/>
              </a:rPr>
              <a:t>10</a:t>
            </a:r>
            <a:r>
              <a:rPr sz="1050" i="1" spc="-37" baseline="31746" dirty="0">
                <a:latin typeface="Arial"/>
                <a:cs typeface="Arial"/>
              </a:rPr>
              <a:t>◦</a:t>
            </a:r>
            <a:endParaRPr sz="1050" baseline="31746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7" name="object 2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Calibration</a:t>
            </a:r>
            <a:r>
              <a:rPr spc="200" dirty="0"/>
              <a:t> </a:t>
            </a:r>
            <a:r>
              <a:rPr spc="100" dirty="0"/>
              <a:t>&amp;</a:t>
            </a:r>
            <a:r>
              <a:rPr spc="204" dirty="0"/>
              <a:t> </a:t>
            </a:r>
            <a:r>
              <a:rPr dirty="0"/>
              <a:t>Scoring</a:t>
            </a:r>
            <a:r>
              <a:rPr spc="204" dirty="0"/>
              <a:t> </a:t>
            </a:r>
            <a:r>
              <a:rPr dirty="0"/>
              <a:t>Configuration</a:t>
            </a:r>
            <a:r>
              <a:rPr spc="204" dirty="0"/>
              <a:t> </a:t>
            </a:r>
            <a:r>
              <a:rPr spc="-10" dirty="0"/>
              <a:t>[3/3]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195272"/>
            <a:ext cx="5584825" cy="215265"/>
          </a:xfrm>
          <a:custGeom>
            <a:avLst/>
            <a:gdLst/>
            <a:ahLst/>
            <a:cxnLst/>
            <a:rect l="l" t="t" r="r" b="b"/>
            <a:pathLst>
              <a:path w="5584825" h="21526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584580" y="215238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232153"/>
            <a:ext cx="174180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2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Posture</a:t>
            </a:r>
            <a:r>
              <a:rPr sz="12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r>
              <a:rPr sz="12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(0–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100)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397850"/>
            <a:ext cx="5584825" cy="567519"/>
            <a:chOff x="87743" y="1397850"/>
            <a:chExt cx="5584825" cy="56751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397850"/>
              <a:ext cx="558458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442129"/>
              <a:ext cx="5584825" cy="523240"/>
            </a:xfrm>
            <a:custGeom>
              <a:avLst/>
              <a:gdLst/>
              <a:ahLst/>
              <a:cxnLst/>
              <a:rect l="l" t="t" r="r" b="b"/>
              <a:pathLst>
                <a:path w="5584825" h="523239">
                  <a:moveTo>
                    <a:pt x="5584580" y="0"/>
                  </a:moveTo>
                  <a:lnTo>
                    <a:pt x="0" y="0"/>
                  </a:lnTo>
                  <a:lnTo>
                    <a:pt x="0" y="472268"/>
                  </a:lnTo>
                  <a:lnTo>
                    <a:pt x="4008" y="491992"/>
                  </a:lnTo>
                  <a:lnTo>
                    <a:pt x="14922" y="508145"/>
                  </a:lnTo>
                  <a:lnTo>
                    <a:pt x="31075" y="519059"/>
                  </a:lnTo>
                  <a:lnTo>
                    <a:pt x="50800" y="523068"/>
                  </a:lnTo>
                  <a:lnTo>
                    <a:pt x="5533779" y="523068"/>
                  </a:lnTo>
                  <a:lnTo>
                    <a:pt x="5553504" y="519059"/>
                  </a:lnTo>
                  <a:lnTo>
                    <a:pt x="5569657" y="508145"/>
                  </a:lnTo>
                  <a:lnTo>
                    <a:pt x="5580571" y="491992"/>
                  </a:lnTo>
                  <a:lnTo>
                    <a:pt x="5584580" y="472268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0183" y="1510841"/>
            <a:ext cx="2259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650" spc="-142" baseline="10101" dirty="0">
                <a:latin typeface="Arial"/>
                <a:cs typeface="Arial"/>
              </a:rPr>
              <a:t>Score</a:t>
            </a:r>
            <a:r>
              <a:rPr sz="1650" spc="-7" baseline="10101" dirty="0">
                <a:latin typeface="Arial"/>
                <a:cs typeface="Arial"/>
              </a:rPr>
              <a:t> </a:t>
            </a:r>
            <a:r>
              <a:rPr sz="1650" spc="300" baseline="10101" dirty="0">
                <a:latin typeface="Arial"/>
                <a:cs typeface="Arial"/>
              </a:rPr>
              <a:t>=</a:t>
            </a:r>
            <a:r>
              <a:rPr sz="1650" spc="-97" baseline="10101" dirty="0">
                <a:latin typeface="Arial"/>
                <a:cs typeface="Arial"/>
              </a:rPr>
              <a:t> </a:t>
            </a:r>
            <a:r>
              <a:rPr sz="1650" i="1" baseline="10101" dirty="0">
                <a:latin typeface="Arial"/>
                <a:cs typeface="Arial"/>
              </a:rPr>
              <a:t>W</a:t>
            </a:r>
            <a:r>
              <a:rPr sz="800" dirty="0">
                <a:latin typeface="Tahoma"/>
                <a:cs typeface="Tahoma"/>
              </a:rPr>
              <a:t>neck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1650" i="1" spc="-142" baseline="10101" dirty="0">
                <a:latin typeface="Meiryo UI"/>
                <a:cs typeface="Meiryo UI"/>
              </a:rPr>
              <a:t>·</a:t>
            </a:r>
            <a:r>
              <a:rPr sz="1650" i="1" spc="-202" baseline="10101" dirty="0">
                <a:latin typeface="Meiryo UI"/>
                <a:cs typeface="Meiryo UI"/>
              </a:rPr>
              <a:t> </a:t>
            </a:r>
            <a:r>
              <a:rPr sz="1650" i="1" spc="-37" baseline="10101" dirty="0">
                <a:latin typeface="Arial"/>
                <a:cs typeface="Arial"/>
              </a:rPr>
              <a:t>S</a:t>
            </a:r>
            <a:r>
              <a:rPr sz="800" spc="-25" dirty="0">
                <a:latin typeface="Tahoma"/>
                <a:cs typeface="Tahoma"/>
              </a:rPr>
              <a:t>neck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1650" spc="300" baseline="10101" dirty="0">
                <a:latin typeface="Arial"/>
                <a:cs typeface="Arial"/>
              </a:rPr>
              <a:t>+</a:t>
            </a:r>
            <a:r>
              <a:rPr sz="1650" spc="-112" baseline="10101" dirty="0">
                <a:latin typeface="Arial"/>
                <a:cs typeface="Arial"/>
              </a:rPr>
              <a:t> </a:t>
            </a:r>
            <a:r>
              <a:rPr sz="1650" i="1" baseline="10101" dirty="0">
                <a:latin typeface="Arial"/>
                <a:cs typeface="Arial"/>
              </a:rPr>
              <a:t>W</a:t>
            </a:r>
            <a:r>
              <a:rPr sz="800" dirty="0">
                <a:latin typeface="Tahoma"/>
                <a:cs typeface="Tahoma"/>
              </a:rPr>
              <a:t>torso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1650" i="1" spc="-142" baseline="10101" dirty="0">
                <a:latin typeface="Meiryo UI"/>
                <a:cs typeface="Meiryo UI"/>
              </a:rPr>
              <a:t>·</a:t>
            </a:r>
            <a:r>
              <a:rPr sz="1650" i="1" spc="-202" baseline="10101" dirty="0">
                <a:latin typeface="Meiryo UI"/>
                <a:cs typeface="Meiryo UI"/>
              </a:rPr>
              <a:t> </a:t>
            </a:r>
            <a:r>
              <a:rPr sz="1650" i="1" spc="-15" baseline="10101" dirty="0">
                <a:latin typeface="Arial"/>
                <a:cs typeface="Arial"/>
              </a:rPr>
              <a:t>S</a:t>
            </a:r>
            <a:r>
              <a:rPr sz="800" spc="-10" dirty="0">
                <a:latin typeface="Tahoma"/>
                <a:cs typeface="Tahoma"/>
              </a:rPr>
              <a:t>torso</a:t>
            </a:r>
            <a:r>
              <a:rPr sz="1650" i="1" spc="-15" baseline="10101" dirty="0">
                <a:latin typeface="Georgia"/>
                <a:cs typeface="Georgia"/>
              </a:rPr>
              <a:t>,</a:t>
            </a:r>
            <a:endParaRPr sz="1650" baseline="10101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8414" y="1488273"/>
            <a:ext cx="1594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Tahoma"/>
                <a:cs typeface="Tahoma"/>
              </a:rPr>
              <a:t>neck</a:t>
            </a:r>
            <a:r>
              <a:rPr sz="1200" spc="75" baseline="-13888" dirty="0">
                <a:latin typeface="Tahoma"/>
                <a:cs typeface="Tahoma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200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ahoma"/>
                <a:cs typeface="Tahoma"/>
              </a:rPr>
              <a:t>torso</a:t>
            </a:r>
            <a:r>
              <a:rPr sz="1200" spc="82" baseline="-10416" dirty="0">
                <a:latin typeface="Tahoma"/>
                <a:cs typeface="Tahoma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.</a:t>
            </a:r>
            <a:r>
              <a:rPr sz="1100" spc="-25" dirty="0"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8748" y="1742591"/>
            <a:ext cx="161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Arial"/>
                <a:cs typeface="Arial"/>
              </a:rPr>
              <a:t>Good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Score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 UI"/>
                <a:cs typeface="Meiryo UI"/>
              </a:rPr>
              <a:t>≥</a:t>
            </a:r>
            <a:r>
              <a:rPr sz="1100" i="1" spc="-70" dirty="0">
                <a:latin typeface="Meiryo UI"/>
                <a:cs typeface="Meiryo UI"/>
              </a:rPr>
              <a:t> </a:t>
            </a:r>
            <a:r>
              <a:rPr sz="1100" b="1" spc="-25" dirty="0">
                <a:latin typeface="Arial"/>
                <a:cs typeface="Arial"/>
              </a:rPr>
              <a:t>75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7"/>
            <a:ext cx="943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14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Algorithm</a:t>
            </a:r>
            <a:r>
              <a:rPr spc="210" dirty="0"/>
              <a:t> </a:t>
            </a:r>
            <a:r>
              <a:rPr spc="-1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19" y="1110979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7263" y="109804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532" y="989489"/>
            <a:ext cx="403606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339215">
              <a:lnSpc>
                <a:spcPct val="149400"/>
              </a:lnSpc>
              <a:spcBef>
                <a:spcPts val="100"/>
              </a:spcBef>
            </a:pPr>
            <a:r>
              <a:rPr sz="1000" spc="-30" dirty="0">
                <a:latin typeface="Arial"/>
                <a:cs typeface="Arial"/>
              </a:rPr>
              <a:t>Capture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frame,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preprocess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MoveNet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size. </a:t>
            </a:r>
            <a:r>
              <a:rPr sz="1000" spc="-25" dirty="0">
                <a:latin typeface="Arial"/>
                <a:cs typeface="Arial"/>
              </a:rPr>
              <a:t>Run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MoveNet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inference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45" dirty="0">
                <a:latin typeface="Meiryo UI"/>
                <a:cs typeface="Meiryo UI"/>
              </a:rPr>
              <a:t> </a:t>
            </a:r>
            <a:r>
              <a:rPr sz="1000" spc="-30" dirty="0">
                <a:latin typeface="Arial"/>
                <a:cs typeface="Arial"/>
              </a:rPr>
              <a:t>keypoints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i="1" spc="-30" dirty="0">
                <a:latin typeface="Meiryo UI"/>
                <a:cs typeface="Meiryo UI"/>
              </a:rPr>
              <a:t>{</a:t>
            </a:r>
            <a:r>
              <a:rPr sz="1000" spc="-30" dirty="0">
                <a:latin typeface="Arial"/>
                <a:cs typeface="Arial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50" i="1" spc="-44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25" dirty="0">
                <a:latin typeface="Arial"/>
                <a:cs typeface="Arial"/>
              </a:rPr>
              <a:t>y</a:t>
            </a:r>
            <a:r>
              <a:rPr sz="1050" i="1" spc="-37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30" dirty="0">
                <a:latin typeface="Arial"/>
                <a:cs typeface="Arial"/>
              </a:rPr>
              <a:t>c</a:t>
            </a:r>
            <a:r>
              <a:rPr sz="1050" i="1" spc="-44" baseline="-11904" dirty="0">
                <a:latin typeface="Franklin Gothic Medium"/>
                <a:cs typeface="Franklin Gothic Medium"/>
              </a:rPr>
              <a:t>i</a:t>
            </a:r>
            <a:r>
              <a:rPr sz="1050" i="1" spc="-89" baseline="-11904" dirty="0">
                <a:latin typeface="Franklin Gothic Medium"/>
                <a:cs typeface="Franklin Gothic Medium"/>
              </a:rPr>
              <a:t> </a:t>
            </a:r>
            <a:r>
              <a:rPr sz="1000" spc="-25" dirty="0">
                <a:latin typeface="Arial"/>
                <a:cs typeface="Arial"/>
              </a:rPr>
              <a:t>)</a:t>
            </a:r>
            <a:r>
              <a:rPr sz="1000" i="1" spc="-25" dirty="0">
                <a:latin typeface="Meiryo UI"/>
                <a:cs typeface="Meiryo UI"/>
              </a:rPr>
              <a:t>}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ct val="149400"/>
              </a:lnSpc>
            </a:pPr>
            <a:r>
              <a:rPr sz="1000" dirty="0">
                <a:latin typeface="Arial"/>
                <a:cs typeface="Arial"/>
              </a:rPr>
              <a:t>Apply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confidence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gating;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compute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head/shoulder/hip</a:t>
            </a:r>
            <a:r>
              <a:rPr sz="1000" spc="-20" dirty="0">
                <a:latin typeface="Arial"/>
                <a:cs typeface="Arial"/>
              </a:rPr>
              <a:t> and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midpoints. </a:t>
            </a:r>
            <a:r>
              <a:rPr sz="1000" dirty="0">
                <a:latin typeface="Arial"/>
                <a:cs typeface="Arial"/>
              </a:rPr>
              <a:t>Extract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angle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features: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neck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flexion, torso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slouch.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sz="1000" spc="-10" dirty="0">
                <a:latin typeface="Arial"/>
                <a:cs typeface="Arial"/>
              </a:rPr>
              <a:t>Drive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ALERT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based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Score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hold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019" y="1338729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7263" y="132579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019" y="1566465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7263" y="155354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019" y="1794214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7263" y="178129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019" y="2021963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7263" y="200903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Resource</a:t>
            </a:r>
            <a:r>
              <a:rPr spc="150" dirty="0"/>
              <a:t> </a:t>
            </a:r>
            <a:r>
              <a:rPr dirty="0"/>
              <a:t>Footprint</a:t>
            </a:r>
            <a:r>
              <a:rPr spc="150" dirty="0"/>
              <a:t> </a:t>
            </a:r>
            <a:r>
              <a:rPr spc="114" dirty="0"/>
              <a:t>(CPU</a:t>
            </a:r>
            <a:r>
              <a:rPr spc="150" dirty="0"/>
              <a:t> </a:t>
            </a:r>
            <a:r>
              <a:rPr spc="100" dirty="0"/>
              <a:t>&amp;</a:t>
            </a:r>
            <a:r>
              <a:rPr spc="155" dirty="0"/>
              <a:t> </a:t>
            </a:r>
            <a:r>
              <a:rPr spc="75" dirty="0"/>
              <a:t>RAM)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601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78787"/>
            <a:ext cx="246443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65" dirty="0">
                <a:latin typeface="Arial"/>
                <a:cs typeface="Arial"/>
              </a:rPr>
              <a:t>Measure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CPU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utilization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usage. </a:t>
            </a:r>
            <a:r>
              <a:rPr sz="1100" spc="-30" dirty="0">
                <a:latin typeface="Arial"/>
                <a:cs typeface="Arial"/>
              </a:rPr>
              <a:t>Report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peak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RAM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average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CPU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load.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1605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828" y="1175268"/>
            <a:ext cx="4386389" cy="5275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828" y="1798624"/>
            <a:ext cx="4386541" cy="5178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17714" y="2437897"/>
            <a:ext cx="3324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3: </a:t>
            </a:r>
            <a:r>
              <a:rPr sz="1000" spc="-35" dirty="0">
                <a:latin typeface="Arial"/>
                <a:cs typeface="Arial"/>
              </a:rPr>
              <a:t>Memory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Footprint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(No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Inference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vs.</a:t>
            </a:r>
            <a:r>
              <a:rPr sz="1000" spc="8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Inference)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End-to-End</a:t>
            </a:r>
            <a:r>
              <a:rPr spc="160" dirty="0"/>
              <a:t> </a:t>
            </a:r>
            <a:r>
              <a:rPr dirty="0"/>
              <a:t>Dataflow</a:t>
            </a:r>
            <a:r>
              <a:rPr spc="16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dirty="0"/>
              <a:t>Mobile</a:t>
            </a:r>
            <a:r>
              <a:rPr spc="160" dirty="0"/>
              <a:t> </a:t>
            </a:r>
            <a:r>
              <a:rPr spc="-25" dirty="0"/>
              <a:t>App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19" y="713685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7263" y="70076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668113"/>
            <a:ext cx="504444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latin typeface="Arial"/>
                <a:cs typeface="Arial"/>
              </a:rPr>
              <a:t>Periodic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Activity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Logging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RPi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-</a:t>
            </a:r>
            <a:r>
              <a:rPr sz="1000" b="1" spc="28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posture</a:t>
            </a:r>
            <a:r>
              <a:rPr sz="1000" spc="-10" dirty="0">
                <a:latin typeface="Arial"/>
                <a:cs typeface="Arial"/>
              </a:rPr>
              <a:t> monitoring </a:t>
            </a:r>
            <a:r>
              <a:rPr sz="1000" spc="-25" dirty="0">
                <a:latin typeface="Arial"/>
                <a:cs typeface="Arial"/>
              </a:rPr>
              <a:t>pipeline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runs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continuously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to </a:t>
            </a:r>
            <a:r>
              <a:rPr sz="1000" spc="-40" dirty="0">
                <a:latin typeface="Arial"/>
                <a:cs typeface="Arial"/>
              </a:rPr>
              <a:t>record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activity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log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every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10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80" dirty="0">
                <a:latin typeface="Arial"/>
                <a:cs typeface="Arial"/>
              </a:rPr>
              <a:t>seconds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append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locally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to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CSV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files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 </a:t>
            </a:r>
            <a:r>
              <a:rPr sz="1000" spc="-50" dirty="0">
                <a:latin typeface="Arial"/>
                <a:cs typeface="Arial"/>
              </a:rPr>
              <a:t>enable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lightweight </a:t>
            </a:r>
            <a:r>
              <a:rPr sz="1000" spc="-45" dirty="0">
                <a:latin typeface="Arial"/>
                <a:cs typeface="Arial"/>
              </a:rPr>
              <a:t>storage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 </a:t>
            </a:r>
            <a:r>
              <a:rPr sz="1000" spc="-10" dirty="0">
                <a:latin typeface="Arial"/>
                <a:cs typeface="Arial"/>
              </a:rPr>
              <a:t>offline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availability.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019" y="1245092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7263" y="123217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019" y="1472841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7263" y="145990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78304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30133"/>
            <a:ext cx="52590" cy="525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123626"/>
            <a:ext cx="4925695" cy="12274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000" spc="-35" dirty="0">
                <a:latin typeface="Arial"/>
                <a:cs typeface="Arial"/>
              </a:rPr>
              <a:t>Flask </a:t>
            </a:r>
            <a:r>
              <a:rPr sz="1000" spc="-55" dirty="0">
                <a:latin typeface="Arial"/>
                <a:cs typeface="Arial"/>
              </a:rPr>
              <a:t>server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running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Rpi </a:t>
            </a:r>
            <a:r>
              <a:rPr sz="1000" spc="-80" dirty="0">
                <a:latin typeface="Arial"/>
                <a:cs typeface="Arial"/>
              </a:rPr>
              <a:t>serves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90" dirty="0">
                <a:latin typeface="Arial"/>
                <a:cs typeface="Arial"/>
              </a:rPr>
              <a:t>as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JSON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responses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using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custom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API.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Flutter-</a:t>
            </a:r>
            <a:r>
              <a:rPr sz="1000" b="1" spc="-10" dirty="0">
                <a:latin typeface="Arial"/>
                <a:cs typeface="Arial"/>
              </a:rPr>
              <a:t>based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Mobile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App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periodically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requests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JSON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over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local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network </a:t>
            </a:r>
            <a:r>
              <a:rPr sz="1000" dirty="0">
                <a:latin typeface="Arial"/>
                <a:cs typeface="Arial"/>
              </a:rPr>
              <a:t>(Wi-Fi/hotspot),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parses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response,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visualizes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user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activity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dashboard.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490"/>
              </a:spcBef>
            </a:pPr>
            <a:r>
              <a:rPr sz="1000" spc="-35" dirty="0">
                <a:latin typeface="Arial"/>
                <a:cs typeface="Arial"/>
              </a:rPr>
              <a:t>Posture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score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trends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over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time,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sz="1000" spc="-35" dirty="0">
                <a:latin typeface="Arial"/>
                <a:cs typeface="Arial"/>
              </a:rPr>
              <a:t>Good</a:t>
            </a:r>
            <a:r>
              <a:rPr sz="1000" spc="-25" dirty="0">
                <a:latin typeface="Arial"/>
                <a:cs typeface="Arial"/>
              </a:rPr>
              <a:t> vs.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bad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posture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duration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summaries,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000" b="1" spc="-30" dirty="0">
                <a:latin typeface="Arial"/>
                <a:cs typeface="Arial"/>
              </a:rPr>
              <a:t>End-</a:t>
            </a:r>
            <a:r>
              <a:rPr sz="1000" b="1" spc="-25" dirty="0">
                <a:latin typeface="Arial"/>
                <a:cs typeface="Arial"/>
              </a:rPr>
              <a:t>to-</a:t>
            </a:r>
            <a:r>
              <a:rPr sz="1000" b="1" dirty="0">
                <a:latin typeface="Arial"/>
                <a:cs typeface="Arial"/>
              </a:rPr>
              <a:t>End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Data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Flow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019" y="2219347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7263" y="22064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2452133"/>
            <a:ext cx="5259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latin typeface="Arial"/>
                <a:cs typeface="Arial"/>
              </a:rPr>
              <a:t>Pose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85" dirty="0">
                <a:latin typeface="Arial"/>
                <a:cs typeface="Arial"/>
              </a:rPr>
              <a:t>&amp;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Scoring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(RPi)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85" dirty="0">
                <a:latin typeface="Meiryo UI"/>
                <a:cs typeface="Meiryo UI"/>
              </a:rPr>
              <a:t> </a:t>
            </a:r>
            <a:r>
              <a:rPr sz="1000" spc="-50" dirty="0">
                <a:latin typeface="Arial"/>
                <a:cs typeface="Arial"/>
              </a:rPr>
              <a:t>CSV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Logs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(every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10s)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80" dirty="0">
                <a:latin typeface="Meiryo UI"/>
                <a:cs typeface="Meiryo UI"/>
              </a:rPr>
              <a:t> </a:t>
            </a:r>
            <a:r>
              <a:rPr sz="1000" spc="-35" dirty="0">
                <a:latin typeface="Arial"/>
                <a:cs typeface="Arial"/>
              </a:rPr>
              <a:t>Flask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API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(JSON)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85" dirty="0">
                <a:latin typeface="Meiryo UI"/>
                <a:cs typeface="Meiryo UI"/>
              </a:rPr>
              <a:t> </a:t>
            </a:r>
            <a:r>
              <a:rPr sz="1000" spc="-10" dirty="0">
                <a:latin typeface="Arial"/>
                <a:cs typeface="Arial"/>
              </a:rPr>
              <a:t>Mobile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App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i="1" dirty="0">
                <a:latin typeface="Meiryo UI"/>
                <a:cs typeface="Meiryo UI"/>
              </a:rPr>
              <a:t>→</a:t>
            </a:r>
            <a:r>
              <a:rPr sz="1000" i="1" spc="-85" dirty="0">
                <a:latin typeface="Meiryo UI"/>
                <a:cs typeface="Meiryo UI"/>
              </a:rPr>
              <a:t> </a:t>
            </a:r>
            <a:r>
              <a:rPr sz="1000" spc="-20" dirty="0">
                <a:latin typeface="Arial"/>
                <a:cs typeface="Arial"/>
              </a:rPr>
              <a:t>Dashboard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1099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3764"/>
            <a:ext cx="45878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latin typeface="Arial"/>
                <a:cs typeface="Arial"/>
              </a:rPr>
              <a:t>EdgeAI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corrector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runs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locally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 </a:t>
            </a:r>
            <a:r>
              <a:rPr sz="1100" spc="-60" dirty="0">
                <a:latin typeface="Arial"/>
                <a:cs typeface="Arial"/>
              </a:rPr>
              <a:t>Raspberry</a:t>
            </a:r>
            <a:r>
              <a:rPr sz="1100" dirty="0">
                <a:latin typeface="Arial"/>
                <a:cs typeface="Arial"/>
              </a:rPr>
              <a:t> Pi with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real-</a:t>
            </a:r>
            <a:r>
              <a:rPr sz="1100" spc="-10" dirty="0">
                <a:latin typeface="Arial"/>
                <a:cs typeface="Arial"/>
              </a:rPr>
              <a:t>time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feedback. Calibration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enables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robust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scoring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under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single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camera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view.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1027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Future</a:t>
            </a:r>
            <a:r>
              <a:rPr spc="175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5507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20" dirty="0"/>
              <a:t>Multi-</a:t>
            </a:r>
            <a:r>
              <a:rPr dirty="0"/>
              <a:t>view</a:t>
            </a:r>
            <a:r>
              <a:rPr spc="5" dirty="0"/>
              <a:t> </a:t>
            </a:r>
            <a:r>
              <a:rPr spc="-35" dirty="0"/>
              <a:t>posture</a:t>
            </a:r>
            <a:r>
              <a:rPr spc="5" dirty="0"/>
              <a:t> </a:t>
            </a:r>
            <a:r>
              <a:rPr spc="-30" dirty="0"/>
              <a:t>estimation</a:t>
            </a:r>
            <a:r>
              <a:rPr spc="5" dirty="0"/>
              <a:t> </a:t>
            </a:r>
            <a:r>
              <a:rPr dirty="0"/>
              <a:t>(for</a:t>
            </a:r>
            <a:r>
              <a:rPr spc="5" dirty="0"/>
              <a:t> </a:t>
            </a:r>
            <a:r>
              <a:rPr dirty="0"/>
              <a:t>true</a:t>
            </a:r>
            <a:r>
              <a:rPr spc="5" dirty="0"/>
              <a:t> </a:t>
            </a:r>
            <a:r>
              <a:rPr dirty="0"/>
              <a:t>3D</a:t>
            </a:r>
            <a:r>
              <a:rPr spc="10" dirty="0"/>
              <a:t> </a:t>
            </a:r>
            <a:r>
              <a:rPr spc="-10" dirty="0"/>
              <a:t>triangulation).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pc="-65" dirty="0"/>
              <a:t>Upgrade</a:t>
            </a:r>
            <a:r>
              <a:rPr spc="20" dirty="0"/>
              <a:t> </a:t>
            </a:r>
            <a:r>
              <a:rPr dirty="0"/>
              <a:t>from</a:t>
            </a:r>
            <a:r>
              <a:rPr spc="25" dirty="0"/>
              <a:t> </a:t>
            </a:r>
            <a:r>
              <a:rPr spc="-60" dirty="0"/>
              <a:t>single-</a:t>
            </a:r>
            <a:r>
              <a:rPr spc="-65" dirty="0"/>
              <a:t>person</a:t>
            </a:r>
            <a:r>
              <a:rPr spc="20" dirty="0"/>
              <a:t> </a:t>
            </a:r>
            <a:r>
              <a:rPr spc="-30" dirty="0"/>
              <a:t>MoveNet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multi-</a:t>
            </a:r>
            <a:r>
              <a:rPr spc="-55" dirty="0"/>
              <a:t>person</a:t>
            </a:r>
            <a:r>
              <a:rPr spc="25" dirty="0"/>
              <a:t> </a:t>
            </a:r>
            <a:r>
              <a:rPr spc="-80" dirty="0"/>
              <a:t>pose</a:t>
            </a:r>
            <a:r>
              <a:rPr spc="25" dirty="0"/>
              <a:t> </a:t>
            </a:r>
            <a:r>
              <a:rPr spc="-40" dirty="0"/>
              <a:t>pipeline</a:t>
            </a:r>
            <a:r>
              <a:rPr spc="20" dirty="0"/>
              <a:t> </a:t>
            </a:r>
            <a:r>
              <a:rPr spc="-10" dirty="0"/>
              <a:t>(detect</a:t>
            </a:r>
            <a:r>
              <a:rPr spc="25" dirty="0"/>
              <a:t> </a:t>
            </a:r>
            <a:r>
              <a:rPr spc="-80" dirty="0"/>
              <a:t>persons</a:t>
            </a:r>
            <a:r>
              <a:rPr spc="25" dirty="0"/>
              <a:t> </a:t>
            </a:r>
            <a:r>
              <a:rPr spc="30" dirty="0">
                <a:latin typeface="Calibri"/>
                <a:cs typeface="Calibri"/>
              </a:rPr>
              <a:t>→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run</a:t>
            </a:r>
            <a:r>
              <a:rPr spc="-50" dirty="0"/>
              <a:t> </a:t>
            </a:r>
            <a:r>
              <a:rPr spc="-80" dirty="0"/>
              <a:t>pose</a:t>
            </a:r>
            <a:r>
              <a:rPr spc="5" dirty="0"/>
              <a:t> </a:t>
            </a:r>
            <a:r>
              <a:rPr spc="-20" dirty="0"/>
              <a:t>per ROI)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50" dirty="0"/>
              <a:t>Expand</a:t>
            </a:r>
            <a:r>
              <a:rPr spc="-25" dirty="0"/>
              <a:t> </a:t>
            </a:r>
            <a:r>
              <a:rPr spc="-100" dirty="0"/>
              <a:t>classes</a:t>
            </a:r>
            <a:r>
              <a:rPr spc="25" dirty="0"/>
              <a:t> </a:t>
            </a:r>
            <a:r>
              <a:rPr spc="-10" dirty="0"/>
              <a:t>(e.g.,</a:t>
            </a:r>
            <a:r>
              <a:rPr spc="5" dirty="0"/>
              <a:t> </a:t>
            </a:r>
            <a:r>
              <a:rPr spc="-40" dirty="0"/>
              <a:t>asymmetric</a:t>
            </a:r>
            <a:r>
              <a:rPr dirty="0"/>
              <a:t> sitting,</a:t>
            </a:r>
            <a:r>
              <a:rPr spc="5" dirty="0"/>
              <a:t> </a:t>
            </a:r>
            <a:r>
              <a:rPr spc="-65" dirty="0"/>
              <a:t>phone</a:t>
            </a:r>
            <a:r>
              <a:rPr dirty="0"/>
              <a:t> </a:t>
            </a:r>
            <a:r>
              <a:rPr spc="-10" dirty="0"/>
              <a:t>neck).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510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47214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51112" y="3135783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964" y="85069"/>
            <a:ext cx="106680" cy="144780"/>
            <a:chOff x="173964" y="85069"/>
            <a:chExt cx="106680" cy="144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87609"/>
              <a:ext cx="101219" cy="139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6504" y="87609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9156" y="10658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809" y="12556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156" y="157197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154032"/>
              <a:ext cx="31635" cy="442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3440" y="207806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419" y="876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249" y="56577"/>
            <a:ext cx="5046980" cy="301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BBC</a:t>
            </a:r>
            <a:r>
              <a:rPr sz="11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News.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”Sitting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straight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’bad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backs”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(BBC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News,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2006).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7A7ACD"/>
                </a:solidFill>
                <a:latin typeface="Cambria"/>
                <a:cs typeface="Cambria"/>
                <a:hlinkClick r:id="rId4"/>
              </a:rPr>
              <a:t>http://news.bbc.co.uk/2/hi/6187080.stm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40" dirty="0">
                <a:solidFill>
                  <a:srgbClr val="3333B2"/>
                </a:solidFill>
                <a:latin typeface="Arial"/>
                <a:cs typeface="Arial"/>
              </a:rPr>
              <a:t>Yi-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Lang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3333B2"/>
                </a:solidFill>
                <a:latin typeface="Arial"/>
                <a:cs typeface="Arial"/>
              </a:rPr>
              <a:t>Chen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</a:t>
            </a:r>
            <a:r>
              <a:rPr sz="11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 marR="329565">
              <a:lnSpc>
                <a:spcPct val="102699"/>
              </a:lnSpc>
            </a:pPr>
            <a:r>
              <a:rPr sz="1100" spc="-10" dirty="0">
                <a:latin typeface="Arial"/>
                <a:cs typeface="Arial"/>
              </a:rPr>
              <a:t>”Postural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Variabilities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Associated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the Most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Comfortable</a:t>
            </a:r>
            <a:r>
              <a:rPr sz="1100" dirty="0">
                <a:latin typeface="Arial"/>
                <a:cs typeface="Arial"/>
              </a:rPr>
              <a:t> Sitting </a:t>
            </a:r>
            <a:r>
              <a:rPr sz="1100" spc="-45" dirty="0">
                <a:latin typeface="Arial"/>
                <a:cs typeface="Arial"/>
              </a:rPr>
              <a:t>Postures: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30" dirty="0">
                <a:latin typeface="Arial"/>
                <a:cs typeface="Arial"/>
              </a:rPr>
              <a:t>Preliminary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Study”.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Healthcare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(Basel),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7A7ACD"/>
                </a:solidFill>
                <a:latin typeface="Arial"/>
                <a:cs typeface="Arial"/>
              </a:rPr>
              <a:t>6;9(12):1685</a:t>
            </a:r>
            <a:r>
              <a:rPr sz="1100" spc="-3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2021.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7A7ACD"/>
                </a:solidFill>
                <a:latin typeface="Cambria"/>
                <a:cs typeface="Cambria"/>
                <a:hlinkClick r:id="rId5"/>
              </a:rPr>
              <a:t>https://doi.org/10.3390/healthcare9121685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Yuri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Kwon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</a:t>
            </a:r>
            <a:r>
              <a:rPr sz="11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”The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effect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sitting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loads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cervico-</a:t>
            </a:r>
            <a:r>
              <a:rPr sz="1100" spc="-40" dirty="0">
                <a:latin typeface="Arial"/>
                <a:cs typeface="Arial"/>
              </a:rPr>
              <a:t>thoracic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lumbosacral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joints”.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Technol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Health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7A7ACD"/>
                </a:solidFill>
                <a:latin typeface="Arial"/>
                <a:cs typeface="Arial"/>
              </a:rPr>
              <a:t>Care.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26(Suppl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7A7ACD"/>
                </a:solidFill>
                <a:latin typeface="Arial"/>
                <a:cs typeface="Arial"/>
              </a:rPr>
              <a:t>1):409–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418.</a:t>
            </a:r>
            <a:r>
              <a:rPr sz="1100" spc="-2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2018.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solidFill>
                  <a:srgbClr val="7A7ACD"/>
                </a:solidFill>
                <a:latin typeface="Cambria"/>
                <a:cs typeface="Cambria"/>
                <a:hlinkClick r:id="rId6"/>
              </a:rPr>
              <a:t>https://doi.org/10.3233/THC-</a:t>
            </a:r>
            <a:r>
              <a:rPr sz="1100" spc="-10" dirty="0">
                <a:solidFill>
                  <a:srgbClr val="7A7ACD"/>
                </a:solidFill>
                <a:latin typeface="Cambria"/>
                <a:cs typeface="Cambria"/>
                <a:hlinkClick r:id="rId6"/>
              </a:rPr>
              <a:t>174717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Donald</a:t>
            </a:r>
            <a:r>
              <a:rPr sz="11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”Sitting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biomechanics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Part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Review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Literature”.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solidFill>
                  <a:srgbClr val="7A7ACD"/>
                </a:solidFill>
                <a:latin typeface="Arial"/>
                <a:cs typeface="Arial"/>
              </a:rPr>
              <a:t>Journal</a:t>
            </a:r>
            <a:r>
              <a:rPr sz="1100" i="1" spc="-1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of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7A7ACD"/>
                </a:solidFill>
                <a:latin typeface="Arial"/>
                <a:cs typeface="Arial"/>
              </a:rPr>
              <a:t>Manipulative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and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Physiological</a:t>
            </a:r>
            <a:r>
              <a:rPr sz="1100" i="1" spc="-1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35" dirty="0">
                <a:solidFill>
                  <a:srgbClr val="7A7ACD"/>
                </a:solidFill>
                <a:latin typeface="Arial"/>
                <a:cs typeface="Arial"/>
              </a:rPr>
              <a:t>Therapeutics,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Vol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22(9),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7A7ACD"/>
                </a:solidFill>
                <a:latin typeface="Arial"/>
                <a:cs typeface="Arial"/>
              </a:rPr>
              <a:t>594-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609</a:t>
            </a:r>
            <a:r>
              <a:rPr sz="1100" spc="-2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1999.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5" dirty="0">
                <a:solidFill>
                  <a:srgbClr val="7A7ACD"/>
                </a:solidFill>
                <a:latin typeface="Cambria"/>
                <a:cs typeface="Cambria"/>
                <a:hlinkClick r:id="rId7"/>
              </a:rPr>
              <a:t>https://doi.org/10.1016/S0161-</a:t>
            </a:r>
            <a:r>
              <a:rPr sz="1100" dirty="0">
                <a:solidFill>
                  <a:srgbClr val="7A7ACD"/>
                </a:solidFill>
                <a:latin typeface="Cambria"/>
                <a:cs typeface="Cambria"/>
                <a:hlinkClick r:id="rId7"/>
              </a:rPr>
              <a:t>4754(99)70020-</a:t>
            </a:r>
            <a:r>
              <a:rPr sz="1100" spc="-25" dirty="0">
                <a:solidFill>
                  <a:srgbClr val="7A7ACD"/>
                </a:solidFill>
                <a:latin typeface="Cambria"/>
                <a:cs typeface="Cambria"/>
                <a:hlinkClick r:id="rId7"/>
              </a:rPr>
              <a:t>5</a:t>
            </a:r>
            <a:r>
              <a:rPr sz="1100" spc="-25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3964" y="680483"/>
            <a:ext cx="106680" cy="144780"/>
            <a:chOff x="173964" y="680483"/>
            <a:chExt cx="106680" cy="1447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683023"/>
              <a:ext cx="101219" cy="1391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04" y="683023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9156" y="702002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809" y="720980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156" y="752611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749446"/>
              <a:ext cx="31635" cy="442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440" y="803220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2419" y="68302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73964" y="1620042"/>
            <a:ext cx="106680" cy="144780"/>
            <a:chOff x="173964" y="1620042"/>
            <a:chExt cx="106680" cy="14478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504" y="1622582"/>
              <a:ext cx="101219" cy="139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6504" y="162258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9156" y="164156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1809" y="166053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156" y="169216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440" y="1689005"/>
              <a:ext cx="31635" cy="442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3440" y="174277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2419" y="16225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73964" y="2387528"/>
            <a:ext cx="106680" cy="144780"/>
            <a:chOff x="173964" y="2387528"/>
            <a:chExt cx="106680" cy="14478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2390068"/>
              <a:ext cx="101219" cy="1391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6504" y="2390068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156" y="2409047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809" y="242802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9156" y="2459656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3440" y="2456492"/>
              <a:ext cx="31635" cy="442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33440" y="2510265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2419" y="23900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451112" y="3135783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964" y="85069"/>
            <a:ext cx="106680" cy="144780"/>
            <a:chOff x="173964" y="85069"/>
            <a:chExt cx="106680" cy="144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87609"/>
              <a:ext cx="101219" cy="139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6504" y="87609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9156" y="10658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809" y="12556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156" y="157197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154032"/>
              <a:ext cx="31635" cy="442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3440" y="207806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419" y="876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249" y="56577"/>
            <a:ext cx="5085080" cy="3010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3333B2"/>
                </a:solidFill>
                <a:latin typeface="Arial"/>
                <a:cs typeface="Arial"/>
              </a:rPr>
              <a:t>Oana-</a:t>
            </a:r>
            <a:r>
              <a:rPr sz="1100" spc="-50" dirty="0">
                <a:solidFill>
                  <a:srgbClr val="3333B2"/>
                </a:solidFill>
                <a:latin typeface="Arial"/>
                <a:cs typeface="Arial"/>
              </a:rPr>
              <a:t>Ruxandra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Arial"/>
                <a:cs typeface="Arial"/>
              </a:rPr>
              <a:t>Stincel</a:t>
            </a:r>
            <a:r>
              <a:rPr sz="11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 marR="232410">
              <a:lnSpc>
                <a:spcPct val="102600"/>
              </a:lnSpc>
            </a:pPr>
            <a:r>
              <a:rPr sz="1100" spc="-55" dirty="0">
                <a:latin typeface="Arial"/>
                <a:cs typeface="Arial"/>
              </a:rPr>
              <a:t>”Assessment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Forward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Head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Posture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Ergonomics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Young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Professionals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– </a:t>
            </a:r>
            <a:r>
              <a:rPr sz="1100" spc="-100" dirty="0">
                <a:latin typeface="Arial"/>
                <a:cs typeface="Arial"/>
              </a:rPr>
              <a:t>Reasons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Worry?”.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solidFill>
                  <a:srgbClr val="7A7ACD"/>
                </a:solidFill>
                <a:latin typeface="Arial"/>
                <a:cs typeface="Arial"/>
              </a:rPr>
              <a:t>Med</a:t>
            </a: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Lav.</a:t>
            </a: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7A7ACD"/>
                </a:solidFill>
                <a:latin typeface="Arial"/>
                <a:cs typeface="Arial"/>
              </a:rPr>
              <a:t>114(1)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spc="-4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2023.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40" dirty="0">
                <a:solidFill>
                  <a:srgbClr val="7A7ACD"/>
                </a:solidFill>
                <a:latin typeface="Cambria"/>
                <a:cs typeface="Cambria"/>
                <a:hlinkClick r:id="rId4"/>
              </a:rPr>
              <a:t>https://doi.org/10.23749/mdl.v114i1.13600</a:t>
            </a:r>
            <a:r>
              <a:rPr sz="1100" spc="4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David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A Titcomb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 marR="46355">
              <a:lnSpc>
                <a:spcPct val="102600"/>
              </a:lnSpc>
            </a:pPr>
            <a:r>
              <a:rPr sz="1100" spc="-10" dirty="0">
                <a:latin typeface="Arial"/>
                <a:cs typeface="Arial"/>
              </a:rPr>
              <a:t>”Evaluation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Craniovertebral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Angle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35" dirty="0">
                <a:latin typeface="Arial"/>
                <a:cs typeface="Arial"/>
              </a:rPr>
              <a:t>Standing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versus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Sitting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Positions</a:t>
            </a:r>
            <a:r>
              <a:rPr sz="1100" dirty="0">
                <a:latin typeface="Arial"/>
                <a:cs typeface="Arial"/>
              </a:rPr>
              <a:t> 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Young </a:t>
            </a:r>
            <a:r>
              <a:rPr sz="1100" spc="-10" dirty="0">
                <a:latin typeface="Arial"/>
                <a:cs typeface="Arial"/>
              </a:rPr>
              <a:t>Adults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without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Severe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Forward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Head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Posture”.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Int</a:t>
            </a:r>
            <a:r>
              <a:rPr sz="1100" i="1" spc="2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J</a:t>
            </a:r>
            <a:r>
              <a:rPr sz="1100" i="1" spc="2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7A7ACD"/>
                </a:solidFill>
                <a:latin typeface="Arial"/>
                <a:cs typeface="Arial"/>
              </a:rPr>
              <a:t>Exerc</a:t>
            </a:r>
            <a:r>
              <a:rPr sz="1100" i="1" spc="2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7A7ACD"/>
                </a:solidFill>
                <a:latin typeface="Arial"/>
                <a:cs typeface="Arial"/>
              </a:rPr>
              <a:t>Sci.</a:t>
            </a:r>
            <a:r>
              <a:rPr sz="1100" i="1" spc="2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17(1):73–</a:t>
            </a:r>
            <a:r>
              <a:rPr sz="1100" i="1" dirty="0">
                <a:solidFill>
                  <a:srgbClr val="7A7ACD"/>
                </a:solidFill>
                <a:latin typeface="Arial"/>
                <a:cs typeface="Arial"/>
              </a:rPr>
              <a:t>85.</a:t>
            </a:r>
            <a:r>
              <a:rPr sz="110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spc="2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2024.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7A7ACD"/>
                </a:solidFill>
                <a:latin typeface="Cambria"/>
                <a:cs typeface="Cambria"/>
                <a:hlinkClick r:id="rId5"/>
              </a:rPr>
              <a:t>https://doi.org/10.70252/GDNN4363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spc="-60" dirty="0">
                <a:solidFill>
                  <a:srgbClr val="3333B2"/>
                </a:solidFill>
                <a:latin typeface="Arial"/>
                <a:cs typeface="Arial"/>
              </a:rPr>
              <a:t>Dae-</a:t>
            </a:r>
            <a:r>
              <a:rPr sz="1100" spc="-35" dirty="0">
                <a:solidFill>
                  <a:srgbClr val="3333B2"/>
                </a:solidFill>
                <a:latin typeface="Arial"/>
                <a:cs typeface="Arial"/>
              </a:rPr>
              <a:t>Hyun</a:t>
            </a:r>
            <a:r>
              <a:rPr sz="11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Kim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333B2"/>
                </a:solidFill>
                <a:latin typeface="Arial"/>
                <a:cs typeface="Arial"/>
              </a:rPr>
              <a:t>et.</a:t>
            </a:r>
            <a:r>
              <a:rPr sz="11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Arial"/>
                <a:cs typeface="Arial"/>
              </a:rPr>
              <a:t>al.,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latin typeface="Arial"/>
                <a:cs typeface="Arial"/>
              </a:rPr>
              <a:t>”Neck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Pain</a:t>
            </a:r>
            <a:r>
              <a:rPr sz="1100" dirty="0">
                <a:latin typeface="Arial"/>
                <a:cs typeface="Arial"/>
              </a:rPr>
              <a:t> in </a:t>
            </a:r>
            <a:r>
              <a:rPr sz="1100" spc="-10" dirty="0">
                <a:latin typeface="Arial"/>
                <a:cs typeface="Arial"/>
              </a:rPr>
              <a:t>Adults</a:t>
            </a:r>
            <a:r>
              <a:rPr sz="1100" dirty="0">
                <a:latin typeface="Arial"/>
                <a:cs typeface="Arial"/>
              </a:rPr>
              <a:t> with </a:t>
            </a:r>
            <a:r>
              <a:rPr sz="1100" spc="-55" dirty="0">
                <a:latin typeface="Arial"/>
                <a:cs typeface="Arial"/>
              </a:rPr>
              <a:t>Forward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Head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Posture:</a:t>
            </a:r>
            <a:r>
              <a:rPr sz="1100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Effects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Craniovertebral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Angle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45" dirty="0">
                <a:latin typeface="Arial"/>
                <a:cs typeface="Arial"/>
              </a:rPr>
              <a:t>Cervical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Range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Motion”.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70" dirty="0">
                <a:solidFill>
                  <a:srgbClr val="7A7ACD"/>
                </a:solidFill>
                <a:latin typeface="Arial"/>
                <a:cs typeface="Arial"/>
              </a:rPr>
              <a:t>Osong</a:t>
            </a:r>
            <a:r>
              <a:rPr sz="1100" i="1" spc="-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Public</a:t>
            </a:r>
            <a:r>
              <a:rPr sz="1100" i="1" spc="-3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7A7ACD"/>
                </a:solidFill>
                <a:latin typeface="Arial"/>
                <a:cs typeface="Arial"/>
              </a:rPr>
              <a:t>Health</a:t>
            </a:r>
            <a:r>
              <a:rPr sz="1100" i="1" spc="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7A7ACD"/>
                </a:solidFill>
                <a:latin typeface="Arial"/>
                <a:cs typeface="Arial"/>
              </a:rPr>
              <a:t>Res</a:t>
            </a:r>
            <a:r>
              <a:rPr sz="1100" i="1" spc="5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7A7ACD"/>
                </a:solidFill>
                <a:latin typeface="Arial"/>
                <a:cs typeface="Arial"/>
              </a:rPr>
              <a:t>Perspect.</a:t>
            </a:r>
            <a:r>
              <a:rPr sz="1100" i="1" spc="10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7A7ACD"/>
                </a:solidFill>
                <a:latin typeface="Arial"/>
                <a:cs typeface="Arial"/>
              </a:rPr>
              <a:t>9(6):309–</a:t>
            </a:r>
            <a:r>
              <a:rPr sz="1100" i="1" spc="-10" dirty="0">
                <a:solidFill>
                  <a:srgbClr val="7A7ACD"/>
                </a:solidFill>
                <a:latin typeface="Arial"/>
                <a:cs typeface="Arial"/>
              </a:rPr>
              <a:t>313</a:t>
            </a:r>
            <a:r>
              <a:rPr sz="1100" spc="-10" dirty="0">
                <a:solidFill>
                  <a:srgbClr val="7A7ACD"/>
                </a:solidFill>
                <a:latin typeface="Arial"/>
                <a:cs typeface="Arial"/>
              </a:rPr>
              <a:t>,</a:t>
            </a:r>
            <a:r>
              <a:rPr sz="1100" spc="5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7A7ACD"/>
                </a:solidFill>
                <a:latin typeface="Arial"/>
                <a:cs typeface="Arial"/>
              </a:rPr>
              <a:t>2024.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60" dirty="0">
                <a:solidFill>
                  <a:srgbClr val="7A7ACD"/>
                </a:solidFill>
                <a:latin typeface="Cambria"/>
                <a:cs typeface="Cambria"/>
                <a:hlinkClick r:id="rId6"/>
              </a:rPr>
              <a:t>https://doi.org/10.24171/j.phrp.2018.9.6.04</a:t>
            </a:r>
            <a:r>
              <a:rPr sz="1100" spc="60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spc="-55" dirty="0">
                <a:solidFill>
                  <a:srgbClr val="3333B2"/>
                </a:solidFill>
                <a:latin typeface="Arial"/>
                <a:cs typeface="Arial"/>
              </a:rPr>
              <a:t>Physio-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Pedia.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3964" y="1024628"/>
            <a:ext cx="106680" cy="144780"/>
            <a:chOff x="173964" y="1024628"/>
            <a:chExt cx="106680" cy="14478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504" y="1027168"/>
              <a:ext cx="101219" cy="1391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04" y="1027168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9156" y="104614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809" y="106512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156" y="109675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3440" y="1093591"/>
              <a:ext cx="31635" cy="442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440" y="114736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2419" y="10271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73964" y="1964187"/>
            <a:ext cx="106680" cy="144780"/>
            <a:chOff x="173964" y="1964187"/>
            <a:chExt cx="106680" cy="14478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1966726"/>
              <a:ext cx="101219" cy="139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6504" y="196672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9156" y="1985705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1809" y="200468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156" y="2036314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2033150"/>
              <a:ext cx="31635" cy="442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3440" y="2086923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2419" y="19667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73964" y="2903745"/>
            <a:ext cx="106680" cy="144780"/>
            <a:chOff x="173964" y="2903745"/>
            <a:chExt cx="106680" cy="14478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2906285"/>
              <a:ext cx="101219" cy="1391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6504" y="2906285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156" y="2925264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809" y="2944242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9156" y="2975873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2972709"/>
              <a:ext cx="31635" cy="442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33440" y="3026482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2419" y="29062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0" name="object 4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r>
              <a:rPr spc="-10" dirty="0"/>
              <a:t>15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249" y="-12066"/>
            <a:ext cx="3707129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Arial"/>
                <a:cs typeface="Arial"/>
              </a:rPr>
              <a:t>”Craniovertebral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angle”.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7A7ACD"/>
                </a:solidFill>
                <a:latin typeface="Cambria"/>
                <a:cs typeface="Cambria"/>
                <a:hlinkClick r:id="rId2"/>
              </a:rPr>
              <a:t>https://www.physio-</a:t>
            </a:r>
            <a:r>
              <a:rPr sz="1100" spc="45" dirty="0">
                <a:solidFill>
                  <a:srgbClr val="7A7ACD"/>
                </a:solidFill>
                <a:latin typeface="Cambria"/>
                <a:cs typeface="Cambria"/>
                <a:hlinkClick r:id="rId2"/>
              </a:rPr>
              <a:t>pedia.com/Craniovertebral_angle</a:t>
            </a:r>
            <a:r>
              <a:rPr sz="1100" spc="45" dirty="0">
                <a:solidFill>
                  <a:srgbClr val="7A7ACD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" name="object 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51112" y="3135783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6487" y="902474"/>
            <a:ext cx="1007110" cy="64262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700" dirty="0">
                <a:latin typeface="Calibri"/>
                <a:cs typeface="Calibri"/>
              </a:rPr>
              <a:t>Thank</a:t>
            </a:r>
            <a:r>
              <a:rPr sz="1700" spc="280" dirty="0">
                <a:latin typeface="Calibri"/>
                <a:cs typeface="Calibri"/>
              </a:rPr>
              <a:t> </a:t>
            </a:r>
            <a:r>
              <a:rPr sz="1700" spc="-30" dirty="0">
                <a:latin typeface="Calibri"/>
                <a:cs typeface="Calibri"/>
              </a:rPr>
              <a:t>you!</a:t>
            </a:r>
            <a:endParaRPr sz="1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1100" spc="-10" dirty="0">
                <a:latin typeface="Arial"/>
                <a:cs typeface="Arial"/>
              </a:rPr>
              <a:t>Questions?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4" name="object 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05312" y="3148483"/>
            <a:ext cx="9969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5" dirty="0">
                <a:solidFill>
                  <a:srgbClr val="FFFFFF"/>
                </a:solidFill>
                <a:latin typeface="Tahoma"/>
                <a:cs typeface="Tahoma"/>
              </a:rPr>
              <a:t>dia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Pranav,</a:t>
            </a:r>
            <a:r>
              <a:rPr spc="45" dirty="0"/>
              <a:t> </a:t>
            </a:r>
            <a:r>
              <a:rPr spc="-10" dirty="0"/>
              <a:t>Shreyas,</a:t>
            </a:r>
            <a:r>
              <a:rPr spc="45" dirty="0"/>
              <a:t> </a:t>
            </a:r>
            <a:r>
              <a:rPr dirty="0"/>
              <a:t>Ashwin,</a:t>
            </a:r>
            <a:r>
              <a:rPr spc="45" dirty="0"/>
              <a:t> </a:t>
            </a:r>
            <a:r>
              <a:rPr dirty="0"/>
              <a:t>Ronalda,</a:t>
            </a:r>
            <a:r>
              <a:rPr spc="45" dirty="0"/>
              <a:t> </a:t>
            </a:r>
            <a:r>
              <a:rPr dirty="0"/>
              <a:t>Veningston</a:t>
            </a:r>
            <a:r>
              <a:rPr spc="125" dirty="0"/>
              <a:t> </a:t>
            </a:r>
            <a:r>
              <a:rPr dirty="0"/>
              <a:t>(ACM</a:t>
            </a:r>
            <a:r>
              <a:rPr spc="45" dirty="0"/>
              <a:t> </a:t>
            </a:r>
            <a:r>
              <a:rPr spc="-25" dirty="0"/>
              <a:t>In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36228" y="3135783"/>
            <a:ext cx="88773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EdgeAI</a:t>
            </a:r>
            <a:r>
              <a:rPr sz="600" spc="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Posture</a:t>
            </a:r>
            <a:r>
              <a:rPr sz="600" spc="1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Corrector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5" dirty="0"/>
              <a:t> </a:t>
            </a:r>
            <a:r>
              <a:rPr dirty="0"/>
              <a:t>4,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51112" y="3135783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6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1596</Words>
  <Application>Microsoft Office PowerPoint</Application>
  <PresentationFormat>Custom</PresentationFormat>
  <Paragraphs>221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Meiryo UI</vt:lpstr>
      <vt:lpstr>Arial</vt:lpstr>
      <vt:lpstr>Calibri</vt:lpstr>
      <vt:lpstr>Cambria</vt:lpstr>
      <vt:lpstr>Franklin Gothic Medium</vt:lpstr>
      <vt:lpstr>Georgia</vt:lpstr>
      <vt:lpstr>Tahoma</vt:lpstr>
      <vt:lpstr>Office Theme</vt:lpstr>
      <vt:lpstr>PowerPoint Presentation</vt:lpstr>
      <vt:lpstr>Problem</vt:lpstr>
      <vt:lpstr>Problem</vt:lpstr>
      <vt:lpstr>System Overview</vt:lpstr>
      <vt:lpstr>Hardware &amp; Deployment</vt:lpstr>
      <vt:lpstr>Pose Estimation with MoveNet</vt:lpstr>
      <vt:lpstr>Calibration &amp; Scoring Configuration [1/3]</vt:lpstr>
      <vt:lpstr>Calibration &amp; Scoring Configuration [2/3]</vt:lpstr>
      <vt:lpstr>Calibration &amp; Scoring Configuration [3/3]</vt:lpstr>
      <vt:lpstr>PowerPoint Presentation</vt:lpstr>
      <vt:lpstr>Algorithm Outline</vt:lpstr>
      <vt:lpstr>Resource Footprint (CPU &amp; RAM)</vt:lpstr>
      <vt:lpstr>End-to-End Dataflow of the Mobile App</vt:lpstr>
      <vt:lpstr>Conclusion</vt:lpstr>
      <vt:lpstr>Future Work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Sitting Posture Corrector App on Raspberry Pi Using Edge AI - A realtime posture correction system</dc:title>
  <dc:creator>Pranav, Shreyas, Ashwin, Ronalda, Veningston</dc:creator>
  <cp:lastModifiedBy>Shreyas Sankaran</cp:lastModifiedBy>
  <cp:revision>1</cp:revision>
  <dcterms:created xsi:type="dcterms:W3CDTF">2026-01-11T12:59:22Z</dcterms:created>
  <dcterms:modified xsi:type="dcterms:W3CDTF">2026-01-11T15:32:40Z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